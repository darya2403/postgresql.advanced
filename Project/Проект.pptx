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7.jpg" ContentType="image/unknown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</p:sldMasterIdLst>
  <p:notesMasterIdLst>
    <p:notesMasterId r:id="rId17"/>
  </p:notesMasterIdLst>
  <p:sldIdLst>
    <p:sldId id="256" r:id="rId2"/>
    <p:sldId id="258" r:id="rId3"/>
    <p:sldId id="260" r:id="rId4"/>
    <p:sldId id="261" r:id="rId5"/>
    <p:sldId id="262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63" r:id="rId15"/>
    <p:sldId id="264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B8815A-5D2B-4131-9F21-9FEA4F73A14A}">
  <a:tblStyle styleId="{1AB8815A-5D2B-4131-9F21-9FEA4F73A1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864" y="120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BD0766-EA02-45F8-8923-E0B2A4287030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ru-RU"/>
        </a:p>
      </dgm:t>
    </dgm:pt>
    <dgm:pt modelId="{BBE69ACE-3BE5-4D6D-8349-96666B7B2229}">
      <dgm:prSet custT="1"/>
      <dgm:spPr>
        <a:solidFill>
          <a:srgbClr val="CCCCFF"/>
        </a:solidFill>
        <a:ln>
          <a:solidFill>
            <a:srgbClr val="CCCCFF"/>
          </a:solidFill>
        </a:ln>
      </dgm:spPr>
      <dgm:t>
        <a:bodyPr/>
        <a:lstStyle/>
        <a:p>
          <a:r>
            <a:rPr lang="ru-RU" sz="800" b="0" i="0"/>
            <a:t>Связка Patroni + etcd обеспечивает надёжное управление репликацией и автоматический failover в PostgreSQL</a:t>
          </a:r>
          <a:endParaRPr lang="ru-RU" sz="800"/>
        </a:p>
      </dgm:t>
    </dgm:pt>
    <dgm:pt modelId="{996912C9-8215-4B97-9327-FD975CBA4C91}" type="parTrans" cxnId="{34AEB716-134C-49F4-8B6E-16661790EC97}">
      <dgm:prSet/>
      <dgm:spPr/>
      <dgm:t>
        <a:bodyPr/>
        <a:lstStyle/>
        <a:p>
          <a:endParaRPr lang="ru-RU" sz="1000"/>
        </a:p>
      </dgm:t>
    </dgm:pt>
    <dgm:pt modelId="{7E872F5E-7030-4A4B-AE4A-819873E770CA}" type="sibTrans" cxnId="{34AEB716-134C-49F4-8B6E-16661790EC97}">
      <dgm:prSet/>
      <dgm:spPr/>
      <dgm:t>
        <a:bodyPr/>
        <a:lstStyle/>
        <a:p>
          <a:endParaRPr lang="ru-RU" sz="1000"/>
        </a:p>
      </dgm:t>
    </dgm:pt>
    <dgm:pt modelId="{E9F98B29-14AA-4899-A981-C15E50F57E34}">
      <dgm:prSet custT="1"/>
      <dgm:spPr>
        <a:solidFill>
          <a:srgbClr val="CCCCFF"/>
        </a:solidFill>
        <a:ln>
          <a:solidFill>
            <a:srgbClr val="CCCCFF"/>
          </a:solidFill>
        </a:ln>
      </dgm:spPr>
      <dgm:t>
        <a:bodyPr/>
        <a:lstStyle/>
        <a:p>
          <a:r>
            <a:rPr lang="ru-RU" sz="800" b="0" i="0"/>
            <a:t>Citus позволяет горизонтально масштабировать базу данных путём шардирования без изменений прикладного кода</a:t>
          </a:r>
          <a:endParaRPr lang="ru-RU" sz="800"/>
        </a:p>
      </dgm:t>
    </dgm:pt>
    <dgm:pt modelId="{79217E8D-361E-4819-9292-632B5822EE85}" type="parTrans" cxnId="{3D685C47-B30D-411A-9AC6-2E3893B0B0B2}">
      <dgm:prSet/>
      <dgm:spPr/>
      <dgm:t>
        <a:bodyPr/>
        <a:lstStyle/>
        <a:p>
          <a:endParaRPr lang="ru-RU" sz="1000"/>
        </a:p>
      </dgm:t>
    </dgm:pt>
    <dgm:pt modelId="{DBA4FD11-3C91-4C71-8CB6-5319E7716468}" type="sibTrans" cxnId="{3D685C47-B30D-411A-9AC6-2E3893B0B0B2}">
      <dgm:prSet/>
      <dgm:spPr/>
      <dgm:t>
        <a:bodyPr/>
        <a:lstStyle/>
        <a:p>
          <a:endParaRPr lang="ru-RU" sz="1000"/>
        </a:p>
      </dgm:t>
    </dgm:pt>
    <dgm:pt modelId="{451B199A-4D5C-4C32-832A-315852B29C27}">
      <dgm:prSet custT="1"/>
      <dgm:spPr>
        <a:solidFill>
          <a:srgbClr val="CCCCFF"/>
        </a:solidFill>
        <a:ln>
          <a:solidFill>
            <a:srgbClr val="CCCCFF"/>
          </a:solidFill>
        </a:ln>
      </dgm:spPr>
      <dgm:t>
        <a:bodyPr/>
        <a:lstStyle/>
        <a:p>
          <a:r>
            <a:rPr lang="ru-RU" sz="800" b="0" i="0"/>
            <a:t>Сочетание HAProxy + Keepalived + облачного NLB даёт полноценную отказоустойчивую балансировку нагрузки как внутри сети, так и из интернета</a:t>
          </a:r>
          <a:endParaRPr lang="ru-RU" sz="800"/>
        </a:p>
      </dgm:t>
    </dgm:pt>
    <dgm:pt modelId="{BEC9861A-DDBE-4ADD-A976-C46A93D429DB}" type="parTrans" cxnId="{2C765119-5C76-47D0-A6C1-2FFF1BFF17FF}">
      <dgm:prSet/>
      <dgm:spPr/>
      <dgm:t>
        <a:bodyPr/>
        <a:lstStyle/>
        <a:p>
          <a:endParaRPr lang="ru-RU" sz="1000"/>
        </a:p>
      </dgm:t>
    </dgm:pt>
    <dgm:pt modelId="{36B07378-93D2-412B-B8EA-7D05E1787B92}" type="sibTrans" cxnId="{2C765119-5C76-47D0-A6C1-2FFF1BFF17FF}">
      <dgm:prSet/>
      <dgm:spPr/>
      <dgm:t>
        <a:bodyPr/>
        <a:lstStyle/>
        <a:p>
          <a:endParaRPr lang="ru-RU" sz="1000"/>
        </a:p>
      </dgm:t>
    </dgm:pt>
    <dgm:pt modelId="{61CE9037-1DC8-40DC-8CD7-C8951067668D}">
      <dgm:prSet custT="1"/>
      <dgm:spPr>
        <a:solidFill>
          <a:srgbClr val="CCCCFF"/>
        </a:solidFill>
        <a:ln>
          <a:solidFill>
            <a:srgbClr val="CCCCFF"/>
          </a:solidFill>
        </a:ln>
      </dgm:spPr>
      <dgm:t>
        <a:bodyPr/>
        <a:lstStyle/>
        <a:p>
          <a:r>
            <a:rPr lang="ru-RU" sz="800" b="0" i="0"/>
            <a:t>Развёртывание в трёх зонах доступности Yandex Cloud повышает устойчивость к сбоям инфраструктуры</a:t>
          </a:r>
          <a:endParaRPr lang="ru-RU" sz="800"/>
        </a:p>
      </dgm:t>
    </dgm:pt>
    <dgm:pt modelId="{271D21E5-E0C6-4136-ABF9-C4ACD9E745E7}" type="parTrans" cxnId="{61AA7CBB-F61D-4C0E-81C9-762C0D85D59E}">
      <dgm:prSet/>
      <dgm:spPr/>
      <dgm:t>
        <a:bodyPr/>
        <a:lstStyle/>
        <a:p>
          <a:endParaRPr lang="ru-RU" sz="1000"/>
        </a:p>
      </dgm:t>
    </dgm:pt>
    <dgm:pt modelId="{7E7043CA-B616-4D2A-906A-C7E8E56B1723}" type="sibTrans" cxnId="{61AA7CBB-F61D-4C0E-81C9-762C0D85D59E}">
      <dgm:prSet/>
      <dgm:spPr/>
      <dgm:t>
        <a:bodyPr/>
        <a:lstStyle/>
        <a:p>
          <a:endParaRPr lang="ru-RU" sz="1000"/>
        </a:p>
      </dgm:t>
    </dgm:pt>
    <dgm:pt modelId="{A4F74649-6880-4D69-AC12-E970F778353C}">
      <dgm:prSet custT="1"/>
      <dgm:spPr>
        <a:solidFill>
          <a:srgbClr val="CCCCFF"/>
        </a:solidFill>
        <a:ln>
          <a:solidFill>
            <a:srgbClr val="CCCCFF"/>
          </a:solidFill>
        </a:ln>
      </dgm:spPr>
      <dgm:t>
        <a:bodyPr/>
        <a:lstStyle/>
        <a:p>
          <a:r>
            <a:rPr lang="ru-RU" sz="800" b="0" i="0"/>
            <a:t>Полученная архитектура может служить шаблоном для построения production-решений высокой доступности</a:t>
          </a:r>
          <a:endParaRPr lang="ru-RU" sz="800"/>
        </a:p>
      </dgm:t>
    </dgm:pt>
    <dgm:pt modelId="{71C14546-8038-404E-B700-EFE7E5377629}" type="parTrans" cxnId="{A40CFF19-DD43-4199-B99C-9AE5E5278EDD}">
      <dgm:prSet/>
      <dgm:spPr/>
      <dgm:t>
        <a:bodyPr/>
        <a:lstStyle/>
        <a:p>
          <a:endParaRPr lang="ru-RU" sz="1000"/>
        </a:p>
      </dgm:t>
    </dgm:pt>
    <dgm:pt modelId="{A6E1B197-52E8-4974-B2BE-3D9C86ACC78A}" type="sibTrans" cxnId="{A40CFF19-DD43-4199-B99C-9AE5E5278EDD}">
      <dgm:prSet/>
      <dgm:spPr/>
      <dgm:t>
        <a:bodyPr/>
        <a:lstStyle/>
        <a:p>
          <a:endParaRPr lang="ru-RU" sz="1000"/>
        </a:p>
      </dgm:t>
    </dgm:pt>
    <dgm:pt modelId="{9C9CB77E-C4D4-4931-A6A6-02B3B3FE33E1}" type="pres">
      <dgm:prSet presAssocID="{C7BD0766-EA02-45F8-8923-E0B2A4287030}" presName="linear" presStyleCnt="0">
        <dgm:presLayoutVars>
          <dgm:animLvl val="lvl"/>
          <dgm:resizeHandles val="exact"/>
        </dgm:presLayoutVars>
      </dgm:prSet>
      <dgm:spPr/>
    </dgm:pt>
    <dgm:pt modelId="{ADFA8F7F-CD55-42E1-B97E-DDD5BA9F616E}" type="pres">
      <dgm:prSet presAssocID="{BBE69ACE-3BE5-4D6D-8349-96666B7B222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E959566-F4A6-4789-9AE4-43A904620470}" type="pres">
      <dgm:prSet presAssocID="{7E872F5E-7030-4A4B-AE4A-819873E770CA}" presName="spacer" presStyleCnt="0"/>
      <dgm:spPr/>
    </dgm:pt>
    <dgm:pt modelId="{55CC6DA2-E6ED-417F-B441-E8B8C67E6265}" type="pres">
      <dgm:prSet presAssocID="{E9F98B29-14AA-4899-A981-C15E50F57E3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4A0707C-3659-48A6-8F02-CF41E15B6D7A}" type="pres">
      <dgm:prSet presAssocID="{DBA4FD11-3C91-4C71-8CB6-5319E7716468}" presName="spacer" presStyleCnt="0"/>
      <dgm:spPr/>
    </dgm:pt>
    <dgm:pt modelId="{FA40C29A-45DE-490A-87C4-D409E1D98E42}" type="pres">
      <dgm:prSet presAssocID="{451B199A-4D5C-4C32-832A-315852B29C2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37CAC1F-9330-45DB-B0B6-8D9489B7E36B}" type="pres">
      <dgm:prSet presAssocID="{36B07378-93D2-412B-B8EA-7D05E1787B92}" presName="spacer" presStyleCnt="0"/>
      <dgm:spPr/>
    </dgm:pt>
    <dgm:pt modelId="{3F8555F6-E462-497D-B871-6A6E2F484010}" type="pres">
      <dgm:prSet presAssocID="{61CE9037-1DC8-40DC-8CD7-C8951067668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371FE4B-72A6-449A-A483-16D8A10946BE}" type="pres">
      <dgm:prSet presAssocID="{7E7043CA-B616-4D2A-906A-C7E8E56B1723}" presName="spacer" presStyleCnt="0"/>
      <dgm:spPr/>
    </dgm:pt>
    <dgm:pt modelId="{971115BE-4BCD-4B54-8426-039609582287}" type="pres">
      <dgm:prSet presAssocID="{A4F74649-6880-4D69-AC12-E970F778353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4AEB716-134C-49F4-8B6E-16661790EC97}" srcId="{C7BD0766-EA02-45F8-8923-E0B2A4287030}" destId="{BBE69ACE-3BE5-4D6D-8349-96666B7B2229}" srcOrd="0" destOrd="0" parTransId="{996912C9-8215-4B97-9327-FD975CBA4C91}" sibTransId="{7E872F5E-7030-4A4B-AE4A-819873E770CA}"/>
    <dgm:cxn modelId="{2C765119-5C76-47D0-A6C1-2FFF1BFF17FF}" srcId="{C7BD0766-EA02-45F8-8923-E0B2A4287030}" destId="{451B199A-4D5C-4C32-832A-315852B29C27}" srcOrd="2" destOrd="0" parTransId="{BEC9861A-DDBE-4ADD-A976-C46A93D429DB}" sibTransId="{36B07378-93D2-412B-B8EA-7D05E1787B92}"/>
    <dgm:cxn modelId="{A40CFF19-DD43-4199-B99C-9AE5E5278EDD}" srcId="{C7BD0766-EA02-45F8-8923-E0B2A4287030}" destId="{A4F74649-6880-4D69-AC12-E970F778353C}" srcOrd="4" destOrd="0" parTransId="{71C14546-8038-404E-B700-EFE7E5377629}" sibTransId="{A6E1B197-52E8-4974-B2BE-3D9C86ACC78A}"/>
    <dgm:cxn modelId="{01CABF5C-91DE-4713-8F35-95DB0EC6A33E}" type="presOf" srcId="{451B199A-4D5C-4C32-832A-315852B29C27}" destId="{FA40C29A-45DE-490A-87C4-D409E1D98E42}" srcOrd="0" destOrd="0" presId="urn:microsoft.com/office/officeart/2005/8/layout/vList2"/>
    <dgm:cxn modelId="{3D685C47-B30D-411A-9AC6-2E3893B0B0B2}" srcId="{C7BD0766-EA02-45F8-8923-E0B2A4287030}" destId="{E9F98B29-14AA-4899-A981-C15E50F57E34}" srcOrd="1" destOrd="0" parTransId="{79217E8D-361E-4819-9292-632B5822EE85}" sibTransId="{DBA4FD11-3C91-4C71-8CB6-5319E7716468}"/>
    <dgm:cxn modelId="{92B07470-8B4D-4413-B5D5-00B50C911DC9}" type="presOf" srcId="{C7BD0766-EA02-45F8-8923-E0B2A4287030}" destId="{9C9CB77E-C4D4-4931-A6A6-02B3B3FE33E1}" srcOrd="0" destOrd="0" presId="urn:microsoft.com/office/officeart/2005/8/layout/vList2"/>
    <dgm:cxn modelId="{770D5581-7910-46C4-97EF-59665AF6AE5D}" type="presOf" srcId="{61CE9037-1DC8-40DC-8CD7-C8951067668D}" destId="{3F8555F6-E462-497D-B871-6A6E2F484010}" srcOrd="0" destOrd="0" presId="urn:microsoft.com/office/officeart/2005/8/layout/vList2"/>
    <dgm:cxn modelId="{61AA7CBB-F61D-4C0E-81C9-762C0D85D59E}" srcId="{C7BD0766-EA02-45F8-8923-E0B2A4287030}" destId="{61CE9037-1DC8-40DC-8CD7-C8951067668D}" srcOrd="3" destOrd="0" parTransId="{271D21E5-E0C6-4136-ABF9-C4ACD9E745E7}" sibTransId="{7E7043CA-B616-4D2A-906A-C7E8E56B1723}"/>
    <dgm:cxn modelId="{C5A77FC2-047C-4099-9143-0106466F59C8}" type="presOf" srcId="{E9F98B29-14AA-4899-A981-C15E50F57E34}" destId="{55CC6DA2-E6ED-417F-B441-E8B8C67E6265}" srcOrd="0" destOrd="0" presId="urn:microsoft.com/office/officeart/2005/8/layout/vList2"/>
    <dgm:cxn modelId="{B627A5D9-8071-4D79-939A-14E41FFDFFE3}" type="presOf" srcId="{A4F74649-6880-4D69-AC12-E970F778353C}" destId="{971115BE-4BCD-4B54-8426-039609582287}" srcOrd="0" destOrd="0" presId="urn:microsoft.com/office/officeart/2005/8/layout/vList2"/>
    <dgm:cxn modelId="{046AF6DC-08FF-4E46-97CF-4B3E0D2F2CE2}" type="presOf" srcId="{BBE69ACE-3BE5-4D6D-8349-96666B7B2229}" destId="{ADFA8F7F-CD55-42E1-B97E-DDD5BA9F616E}" srcOrd="0" destOrd="0" presId="urn:microsoft.com/office/officeart/2005/8/layout/vList2"/>
    <dgm:cxn modelId="{0809F0F0-3848-44C7-9932-2E169070969F}" type="presParOf" srcId="{9C9CB77E-C4D4-4931-A6A6-02B3B3FE33E1}" destId="{ADFA8F7F-CD55-42E1-B97E-DDD5BA9F616E}" srcOrd="0" destOrd="0" presId="urn:microsoft.com/office/officeart/2005/8/layout/vList2"/>
    <dgm:cxn modelId="{5AECE34E-2A8A-48B8-90E2-9F02C3D2CA40}" type="presParOf" srcId="{9C9CB77E-C4D4-4931-A6A6-02B3B3FE33E1}" destId="{6E959566-F4A6-4789-9AE4-43A904620470}" srcOrd="1" destOrd="0" presId="urn:microsoft.com/office/officeart/2005/8/layout/vList2"/>
    <dgm:cxn modelId="{29F573C9-975D-4844-9E7C-92A7E9006E1C}" type="presParOf" srcId="{9C9CB77E-C4D4-4931-A6A6-02B3B3FE33E1}" destId="{55CC6DA2-E6ED-417F-B441-E8B8C67E6265}" srcOrd="2" destOrd="0" presId="urn:microsoft.com/office/officeart/2005/8/layout/vList2"/>
    <dgm:cxn modelId="{644DB1B3-FAC1-4E9B-91C1-B068C00DB238}" type="presParOf" srcId="{9C9CB77E-C4D4-4931-A6A6-02B3B3FE33E1}" destId="{64A0707C-3659-48A6-8F02-CF41E15B6D7A}" srcOrd="3" destOrd="0" presId="urn:microsoft.com/office/officeart/2005/8/layout/vList2"/>
    <dgm:cxn modelId="{D0D76652-9868-4999-A40C-B9B5A6851285}" type="presParOf" srcId="{9C9CB77E-C4D4-4931-A6A6-02B3B3FE33E1}" destId="{FA40C29A-45DE-490A-87C4-D409E1D98E42}" srcOrd="4" destOrd="0" presId="urn:microsoft.com/office/officeart/2005/8/layout/vList2"/>
    <dgm:cxn modelId="{B8A9538B-3409-4477-AF43-3B92A8693D76}" type="presParOf" srcId="{9C9CB77E-C4D4-4931-A6A6-02B3B3FE33E1}" destId="{237CAC1F-9330-45DB-B0B6-8D9489B7E36B}" srcOrd="5" destOrd="0" presId="urn:microsoft.com/office/officeart/2005/8/layout/vList2"/>
    <dgm:cxn modelId="{4ED4F52A-8C12-4FE0-9F38-6CDC90AF2F02}" type="presParOf" srcId="{9C9CB77E-C4D4-4931-A6A6-02B3B3FE33E1}" destId="{3F8555F6-E462-497D-B871-6A6E2F484010}" srcOrd="6" destOrd="0" presId="urn:microsoft.com/office/officeart/2005/8/layout/vList2"/>
    <dgm:cxn modelId="{B075BC65-1784-4998-A736-39CA1F4DE748}" type="presParOf" srcId="{9C9CB77E-C4D4-4931-A6A6-02B3B3FE33E1}" destId="{3371FE4B-72A6-449A-A483-16D8A10946BE}" srcOrd="7" destOrd="0" presId="urn:microsoft.com/office/officeart/2005/8/layout/vList2"/>
    <dgm:cxn modelId="{0A8D6C34-2F82-4A05-9D2B-1041CBFB0802}" type="presParOf" srcId="{9C9CB77E-C4D4-4931-A6A6-02B3B3FE33E1}" destId="{971115BE-4BCD-4B54-8426-03960958228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FA8F7F-CD55-42E1-B97E-DDD5BA9F616E}">
      <dsp:nvSpPr>
        <dsp:cNvPr id="0" name=""/>
        <dsp:cNvSpPr/>
      </dsp:nvSpPr>
      <dsp:spPr>
        <a:xfrm>
          <a:off x="0" y="37066"/>
          <a:ext cx="3054637" cy="636480"/>
        </a:xfrm>
        <a:prstGeom prst="roundRect">
          <a:avLst/>
        </a:prstGeom>
        <a:solidFill>
          <a:srgbClr val="CCCCFF"/>
        </a:solidFill>
        <a:ln w="25400" cap="flat" cmpd="sng" algn="ctr">
          <a:solidFill>
            <a:srgbClr val="CCCC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800" b="0" i="0" kern="1200"/>
            <a:t>Связка Patroni + etcd обеспечивает надёжное управление репликацией и автоматический failover в PostgreSQL</a:t>
          </a:r>
          <a:endParaRPr lang="ru-RU" sz="800" kern="1200"/>
        </a:p>
      </dsp:txBody>
      <dsp:txXfrm>
        <a:off x="31070" y="68136"/>
        <a:ext cx="2992497" cy="574340"/>
      </dsp:txXfrm>
    </dsp:sp>
    <dsp:sp modelId="{55CC6DA2-E6ED-417F-B441-E8B8C67E6265}">
      <dsp:nvSpPr>
        <dsp:cNvPr id="0" name=""/>
        <dsp:cNvSpPr/>
      </dsp:nvSpPr>
      <dsp:spPr>
        <a:xfrm>
          <a:off x="0" y="771466"/>
          <a:ext cx="3054637" cy="636480"/>
        </a:xfrm>
        <a:prstGeom prst="roundRect">
          <a:avLst/>
        </a:prstGeom>
        <a:solidFill>
          <a:srgbClr val="CCCCFF"/>
        </a:solidFill>
        <a:ln w="25400" cap="flat" cmpd="sng" algn="ctr">
          <a:solidFill>
            <a:srgbClr val="CCCC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800" b="0" i="0" kern="1200"/>
            <a:t>Citus позволяет горизонтально масштабировать базу данных путём шардирования без изменений прикладного кода</a:t>
          </a:r>
          <a:endParaRPr lang="ru-RU" sz="800" kern="1200"/>
        </a:p>
      </dsp:txBody>
      <dsp:txXfrm>
        <a:off x="31070" y="802536"/>
        <a:ext cx="2992497" cy="574340"/>
      </dsp:txXfrm>
    </dsp:sp>
    <dsp:sp modelId="{FA40C29A-45DE-490A-87C4-D409E1D98E42}">
      <dsp:nvSpPr>
        <dsp:cNvPr id="0" name=""/>
        <dsp:cNvSpPr/>
      </dsp:nvSpPr>
      <dsp:spPr>
        <a:xfrm>
          <a:off x="0" y="1505866"/>
          <a:ext cx="3054637" cy="636480"/>
        </a:xfrm>
        <a:prstGeom prst="roundRect">
          <a:avLst/>
        </a:prstGeom>
        <a:solidFill>
          <a:srgbClr val="CCCCFF"/>
        </a:solidFill>
        <a:ln w="25400" cap="flat" cmpd="sng" algn="ctr">
          <a:solidFill>
            <a:srgbClr val="CCCC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800" b="0" i="0" kern="1200"/>
            <a:t>Сочетание HAProxy + Keepalived + облачного NLB даёт полноценную отказоустойчивую балансировку нагрузки как внутри сети, так и из интернета</a:t>
          </a:r>
          <a:endParaRPr lang="ru-RU" sz="800" kern="1200"/>
        </a:p>
      </dsp:txBody>
      <dsp:txXfrm>
        <a:off x="31070" y="1536936"/>
        <a:ext cx="2992497" cy="574340"/>
      </dsp:txXfrm>
    </dsp:sp>
    <dsp:sp modelId="{3F8555F6-E462-497D-B871-6A6E2F484010}">
      <dsp:nvSpPr>
        <dsp:cNvPr id="0" name=""/>
        <dsp:cNvSpPr/>
      </dsp:nvSpPr>
      <dsp:spPr>
        <a:xfrm>
          <a:off x="0" y="2240266"/>
          <a:ext cx="3054637" cy="636480"/>
        </a:xfrm>
        <a:prstGeom prst="roundRect">
          <a:avLst/>
        </a:prstGeom>
        <a:solidFill>
          <a:srgbClr val="CCCCFF"/>
        </a:solidFill>
        <a:ln w="25400" cap="flat" cmpd="sng" algn="ctr">
          <a:solidFill>
            <a:srgbClr val="CCCC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800" b="0" i="0" kern="1200"/>
            <a:t>Развёртывание в трёх зонах доступности Yandex Cloud повышает устойчивость к сбоям инфраструктуры</a:t>
          </a:r>
          <a:endParaRPr lang="ru-RU" sz="800" kern="1200"/>
        </a:p>
      </dsp:txBody>
      <dsp:txXfrm>
        <a:off x="31070" y="2271336"/>
        <a:ext cx="2992497" cy="574340"/>
      </dsp:txXfrm>
    </dsp:sp>
    <dsp:sp modelId="{971115BE-4BCD-4B54-8426-039609582287}">
      <dsp:nvSpPr>
        <dsp:cNvPr id="0" name=""/>
        <dsp:cNvSpPr/>
      </dsp:nvSpPr>
      <dsp:spPr>
        <a:xfrm>
          <a:off x="0" y="2974666"/>
          <a:ext cx="3054637" cy="636480"/>
        </a:xfrm>
        <a:prstGeom prst="roundRect">
          <a:avLst/>
        </a:prstGeom>
        <a:solidFill>
          <a:srgbClr val="CCCCFF"/>
        </a:solidFill>
        <a:ln w="25400" cap="flat" cmpd="sng" algn="ctr">
          <a:solidFill>
            <a:srgbClr val="CCCC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800" b="0" i="0" kern="1200"/>
            <a:t>Полученная архитектура может служить шаблоном для построения production-решений высокой доступности</a:t>
          </a:r>
          <a:endParaRPr lang="ru-RU" sz="800" kern="1200"/>
        </a:p>
      </dsp:txBody>
      <dsp:txXfrm>
        <a:off x="31070" y="3005736"/>
        <a:ext cx="2992497" cy="5743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A7B97962-1EF6-2A14-9BE3-D560B1AA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48210236-165B-58F7-115F-CFEC9C8CA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52E1C9D5-522C-FFAA-9D71-07CAFDFAD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1381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98366C6A-BFAC-2EEA-C1F6-34EB3363B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74336114-07F9-FEF9-4706-DB3228CDB2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323D7FA7-BAC7-E518-749C-CB3DEE5D2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6265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B3D1641A-3849-0A60-4498-C18C53BBB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7F473782-2939-2C81-F6AD-CD2DDDE412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4FCCE50B-CD36-F640-778D-206F24B517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1524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A6B0D970-F885-71D7-CDC6-F3448718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1A637B72-6FDF-70BA-66D9-8A167EBC9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530B7634-39BA-40D1-E736-9C058D5045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1959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850C2227-C529-5BD9-E68D-19BB6103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F726F40A-BAA5-089E-9453-B704EB37E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F5C8FA2B-0C1A-762E-1155-D88F5C826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288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07BFA66D-7B36-111E-1739-29CCF0BE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258A4A76-9973-B222-7F20-A3ECF9987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08076057-4610-7895-0407-0AD302EFC2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4300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C1A4DB40-E8EC-9787-7898-F6ED441F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CB1828B3-2AC1-C558-622D-C9CB7A03C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BF9403C7-09A2-7DD0-E81E-CF1D0362AE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7410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B152BE3C-AFA2-81FC-2D01-E0ABF942D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23BDD196-B32D-1835-18A9-41A661DFAC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8013C345-C144-D419-317F-813CBF1922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9590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Darya2403/PostgreSQL.Advanced/blob/main/Project/vm_creatio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Darya2403/PostgreSQL.Advanced/blob/main/Project/Project.md" TargetMode="Externa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hyperlink" Target="https://github.com/Darya2403/PostgreSQL.Advanced/blob/main/Project/configs%2Fetcd%2Fetcd.m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Darya2403/PostgreSQL.Advanced/blob/main/Project/configs%2Fpg-citus-patroni-cluster%2Fpg-citus-patroni-cluster.m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rya2403/PostgreSQL.Advanced/blob/main/Project/configs%2Fpg-citus-patroni-cluster%2Fpg-citus-patroni-cluster.m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hyperlink" Target="https://github.com/Darya2403/PostgreSQL.Advanced/blob/main/Project/configs/pg-citus-patroni-cluster/query.m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rya2403/PostgreSQL.Advanced/blob/main/Project/configs%2Fhaproxy%2Fhaproxy.m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hyperlink" Target="https://github.com/Darya2403/PostgreSQL.Advanced/blob/main/Project/Project.m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629700" y="268875"/>
            <a:ext cx="7584300" cy="330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Построение отказоустойчивого распределённого кластера </a:t>
            </a:r>
            <a:r>
              <a:rPr lang="ru-RU" sz="45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PostgreSQL</a:t>
            </a:r>
            <a:r>
              <a:rPr lang="ru-RU" sz="45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на базе </a:t>
            </a:r>
            <a:r>
              <a:rPr lang="ru-RU" sz="45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Citus</a:t>
            </a:r>
            <a:r>
              <a:rPr lang="ru-RU" sz="45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-RU" sz="45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Patroni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746387" y="4132731"/>
            <a:ext cx="2920500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PostgreSQL. Advanced</a:t>
            </a:r>
            <a:endParaRPr lang="ru-RU"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399145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 dirty="0"/>
              <a:t>Защита проекта</a:t>
            </a:r>
            <a:br>
              <a:rPr lang="en-US" sz="2400" i="1" dirty="0"/>
            </a:br>
            <a:r>
              <a:rPr lang="ru" sz="2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Тема: </a:t>
            </a:r>
            <a:r>
              <a:rPr lang="ru-RU" sz="2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Построение отказоустойчивого распределённого кластера </a:t>
            </a:r>
            <a:r>
              <a:rPr lang="ru-RU" sz="240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PostgreSQL</a:t>
            </a:r>
            <a:r>
              <a:rPr lang="ru-RU" sz="2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на базе </a:t>
            </a:r>
            <a:r>
              <a:rPr lang="ru-RU" sz="240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Citus</a:t>
            </a:r>
            <a:r>
              <a:rPr lang="ru-RU" sz="240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и </a:t>
            </a:r>
            <a:r>
              <a:rPr lang="ru-RU" sz="240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Patroni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4" name="Google Shape;164;p37"/>
          <p:cNvPicPr preferRelativeResize="0"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079" t="996" r="11163" b="45279"/>
          <a:stretch>
            <a:fillRect/>
          </a:stretch>
        </p:blipFill>
        <p:spPr>
          <a:xfrm>
            <a:off x="703716" y="2052767"/>
            <a:ext cx="2275121" cy="2244913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1855" y="2052767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Дарья Чистякова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607588" y="2508117"/>
            <a:ext cx="4832696" cy="2105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Senior System Analyst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 в МТС: проектирую интеграции, веду задачи от требований до прода</a:t>
            </a:r>
            <a:endParaRPr lang="en-US" sz="1300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28575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Администратор данных продукта: отвечаю за качество, структуру и управление данными в продукте</a:t>
            </a:r>
          </a:p>
          <a:p>
            <a:pPr marL="28575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Бакалавр бизнес-информатики (ИТ-менеджмент) и магистр прикладной информатики (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DevOps-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инженерия)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3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45819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2400" b="1" dirty="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24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24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2858514915"/>
              </p:ext>
            </p:extLst>
          </p:nvPr>
        </p:nvGraphicFramePr>
        <p:xfrm>
          <a:off x="413600" y="2042944"/>
          <a:ext cx="8435340" cy="2938952"/>
        </p:xfrm>
        <a:graphic>
          <a:graphicData uri="http://schemas.openxmlformats.org/drawingml/2006/table">
            <a:tbl>
              <a:tblPr>
                <a:noFill/>
                <a:tableStyleId>{1AB8815A-5D2B-4131-9F21-9FEA4F73A14A}</a:tableStyleId>
              </a:tblPr>
              <a:tblGrid>
                <a:gridCol w="636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2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Развернуть инфраструктуру в Yandex </a:t>
                      </a:r>
                      <a:r>
                        <a:rPr lang="ru-RU" sz="11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Cloud</a:t>
                      </a: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с распределением по трём зонам доступности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6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2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кластер </a:t>
                      </a:r>
                      <a:r>
                        <a:rPr lang="ru-RU" sz="11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etcd</a:t>
                      </a: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(3 узла) как распределённое хранилище конфигураций (DCS) для </a:t>
                      </a:r>
                      <a:r>
                        <a:rPr lang="ru-RU" sz="11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Patroni</a:t>
                      </a:r>
                      <a:endParaRPr lang="ru-RU" sz="11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66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2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Установить </a:t>
                      </a:r>
                      <a:r>
                        <a:rPr lang="ru-RU" sz="11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</a:t>
                      </a: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16, расширение </a:t>
                      </a:r>
                      <a:r>
                        <a:rPr lang="ru-RU" sz="11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Citus</a:t>
                      </a: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</a:t>
                      </a:r>
                      <a:r>
                        <a:rPr lang="ru-RU" sz="11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шардирование</a:t>
                      </a: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 и </a:t>
                      </a:r>
                      <a:r>
                        <a:rPr lang="ru-RU" sz="11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Patroni</a:t>
                      </a: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(управление репликацией и </a:t>
                      </a:r>
                      <a:r>
                        <a:rPr lang="ru-RU" sz="11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failover</a:t>
                      </a: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 на 6 узлах БД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9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2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Сконфигурировать </a:t>
                      </a:r>
                      <a:r>
                        <a:rPr lang="ru-RU" sz="11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Patroni</a:t>
                      </a: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для двух групп: координаторы (2 узла) и две группы </a:t>
                      </a:r>
                      <a:r>
                        <a:rPr lang="ru-RU" sz="11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воркеров</a:t>
                      </a: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(по 2 узла в каждой)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2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1" i="0" u="none" strike="noStrike" cap="none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5.</a:t>
                      </a:r>
                      <a:endParaRPr sz="1200" b="1" i="0" u="none" strike="noStrike" cap="none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Проверить работу репликации, автоматического переключения лидера (</a:t>
                      </a:r>
                      <a:r>
                        <a:rPr lang="ru-RU" sz="11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failover</a:t>
                      </a: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 и распределения </a:t>
                      </a:r>
                      <a:r>
                        <a:rPr lang="ru-RU" sz="11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шардов</a:t>
                      </a:r>
                      <a:r>
                        <a:rPr lang="ru-RU" sz="1100" b="0" i="0" u="none" strike="noStrike" cap="none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1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Citus</a:t>
                      </a:r>
                      <a:endParaRPr lang="ru-RU" sz="11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1" i="0" u="none" strike="noStrike" cap="none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6.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Организовать единую точку входа к БД</a:t>
                      </a: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852168"/>
                  </a:ext>
                </a:extLst>
              </a:tr>
              <a:tr h="2803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1" i="0" u="none" strike="noStrike" cap="none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7.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Протестировать отказоустойчивость решения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568050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560500" y="1086941"/>
            <a:ext cx="8141540" cy="77995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2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построить отказоустойчивый распределённый кластер </a:t>
            </a:r>
            <a:r>
              <a:rPr lang="ru-RU" sz="1200" dirty="0" err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PostgreSQL</a:t>
            </a:r>
            <a:r>
              <a:rPr lang="ru-RU" sz="12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, способный горизонтально масштабироваться, автоматически восстанавливаться после сбоев узлов и предоставлять единую точку входа для приложений</a:t>
            </a:r>
            <a:endParaRPr sz="12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/>
              <a:t>Какие технологии использовались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3307332784"/>
              </p:ext>
            </p:extLst>
          </p:nvPr>
        </p:nvGraphicFramePr>
        <p:xfrm>
          <a:off x="500550" y="1128155"/>
          <a:ext cx="5740230" cy="3079350"/>
        </p:xfrm>
        <a:graphic>
          <a:graphicData uri="http://schemas.openxmlformats.org/drawingml/2006/table">
            <a:tbl>
              <a:tblPr>
                <a:noFill/>
                <a:tableStyleId>{1AB8815A-5D2B-4131-9F21-9FEA4F73A14A}</a:tableStyleId>
              </a:tblPr>
              <a:tblGrid>
                <a:gridCol w="552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PostgreSQL 16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</a:rPr>
                        <a:t>Citus</a:t>
                      </a:r>
                      <a:r>
                        <a:rPr lang="en-US" sz="1600" dirty="0">
                          <a:effectLst/>
                        </a:rPr>
                        <a:t> 12.1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Patroni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</a:rPr>
                        <a:t>etcd</a:t>
                      </a:r>
                      <a:r>
                        <a:rPr lang="en-US" sz="1600" dirty="0">
                          <a:effectLst/>
                        </a:rPr>
                        <a:t> 3.5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4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Yandex Cloud NLB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6.</a:t>
                      </a:r>
                      <a:endParaRPr sz="1400" b="1" i="0" u="none" strike="noStrike" cap="none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</a:rPr>
                        <a:t>HAProxy</a:t>
                      </a:r>
                      <a:r>
                        <a:rPr lang="en-US" sz="1600" dirty="0">
                          <a:effectLst/>
                        </a:rPr>
                        <a:t> 2.8</a:t>
                      </a: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50584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i="0" u="none" strike="noStrike" cap="none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7.</a:t>
                      </a:r>
                      <a:endParaRPr sz="1400" b="1" i="0" u="none" strike="noStrike" cap="none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</a:rPr>
                        <a:t>Keepalived</a:t>
                      </a:r>
                      <a:endParaRPr lang="en-US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857748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BC55A5-2788-D208-9693-EEE38085B3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1539" y="876911"/>
            <a:ext cx="1389533" cy="1433545"/>
          </a:xfrm>
          <a:prstGeom prst="rect">
            <a:avLst/>
          </a:prstGeom>
        </p:spPr>
      </p:pic>
      <p:pic>
        <p:nvPicPr>
          <p:cNvPr id="1026" name="Picture 2" descr="Citus Data · GitHub">
            <a:extLst>
              <a:ext uri="{FF2B5EF4-FFF2-40B4-BE49-F238E27FC236}">
                <a16:creationId xmlns:a16="http://schemas.microsoft.com/office/drawing/2014/main" id="{641B18DC-22BE-667F-873B-0DF129887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41880" y="1697080"/>
            <a:ext cx="1451610" cy="145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625A73-4CEC-29D5-515F-1487CAF0168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6470" y="3306717"/>
            <a:ext cx="2506980" cy="900787"/>
          </a:xfrm>
          <a:prstGeom prst="rect">
            <a:avLst/>
          </a:prstGeom>
        </p:spPr>
      </p:pic>
      <p:pic>
        <p:nvPicPr>
          <p:cNvPr id="1028" name="Picture 4" descr="Yandex Cloud открыла доступ к сервису для «умного» резервного копирования  данных в облаке Cloud Backup / Хабр">
            <a:extLst>
              <a:ext uri="{FF2B5EF4-FFF2-40B4-BE49-F238E27FC236}">
                <a16:creationId xmlns:a16="http://schemas.microsoft.com/office/drawing/2014/main" id="{8C883871-1D8E-2357-79CE-44450686B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7531" y="3837941"/>
            <a:ext cx="2644126" cy="132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AProxy — Википедия">
            <a:extLst>
              <a:ext uri="{FF2B5EF4-FFF2-40B4-BE49-F238E27FC236}">
                <a16:creationId xmlns:a16="http://schemas.microsoft.com/office/drawing/2014/main" id="{9B01D215-4ACD-E4F6-2E6D-E7F946D9E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70665" y="1593683"/>
            <a:ext cx="2271215" cy="1784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E075FC3-1D4C-741A-BCB2-786922BC22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0550" y="784861"/>
            <a:ext cx="7971092" cy="427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400" dirty="0"/>
              <a:t>Архитектура решения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A4C3D57F-06C4-6955-BF1D-3E25BDCE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19C918EA-F6B3-6EAD-DDF5-10044436B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400" dirty="0"/>
              <a:t>Инфраструктура</a:t>
            </a:r>
            <a:endParaRPr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FBCC3A-ECE5-2F9F-1270-DC6AA9B17D27}"/>
              </a:ext>
            </a:extLst>
          </p:cNvPr>
          <p:cNvSpPr txBox="1"/>
          <p:nvPr/>
        </p:nvSpPr>
        <p:spPr>
          <a:xfrm>
            <a:off x="122850" y="972651"/>
            <a:ext cx="2402670" cy="367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Кластер 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etcd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(3 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ВМ):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etcd-1, etcd-2, etcd-3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Кластер координаторов (2 ВМ):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citus-coord-1 (primary), citus-coord-2 (standby)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Кластер </a:t>
            </a:r>
            <a:r>
              <a:rPr lang="ru-RU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воркеров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(4 ВМ):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citus-worker-1 (primary), citus-worker-2 (standby), citus-worker-3 (primary), citus-worker-4 (standby)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Балансировщики нагрузки (2 ВМ):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haproxy-1 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haproxy-2</a:t>
            </a:r>
            <a:endParaRPr lang="ru-RU" sz="13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7916CDD-3688-CCB3-2494-679C74D31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25520" y="1158240"/>
            <a:ext cx="6396279" cy="359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4AFF0E-1F65-DB2C-A7F9-2B3EF4444E3B}"/>
              </a:ext>
            </a:extLst>
          </p:cNvPr>
          <p:cNvSpPr txBox="1"/>
          <p:nvPr/>
        </p:nvSpPr>
        <p:spPr>
          <a:xfrm>
            <a:off x="430020" y="4927076"/>
            <a:ext cx="4572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00" dirty="0">
                <a:hlinkClick r:id="rId4"/>
              </a:rPr>
              <a:t>https://github.com/Darya2403/PostgreSQL.Advanced/blob/main/Project/vm_creation</a:t>
            </a:r>
            <a:r>
              <a:rPr lang="ru-RU" sz="7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078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1BB3301-AF93-C0D2-7B95-C5F8BC527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2F637058-AC2D-28C3-8403-134E06CC90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400" dirty="0"/>
              <a:t>Настройка </a:t>
            </a:r>
            <a:r>
              <a:rPr lang="en-US" sz="2400" dirty="0"/>
              <a:t>NAT-</a:t>
            </a:r>
            <a:r>
              <a:rPr lang="ru-RU" sz="2400" dirty="0"/>
              <a:t>шлюза</a:t>
            </a: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0357E5-6203-D960-56FC-1699D099DD36}"/>
              </a:ext>
            </a:extLst>
          </p:cNvPr>
          <p:cNvSpPr txBox="1"/>
          <p:nvPr/>
        </p:nvSpPr>
        <p:spPr>
          <a:xfrm>
            <a:off x="500550" y="878674"/>
            <a:ext cx="8331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ru-RU" b="0" i="0" dirty="0">
                <a:solidFill>
                  <a:srgbClr val="1F2328"/>
                </a:solidFill>
                <a:effectLst/>
                <a:latin typeface="Mona Sans VF"/>
              </a:rPr>
              <a:t>ВМ без публичных IP по умолчанию не имеют выхода в интернет. Для установки пакетов и обновлений был создан NAT-шлюз и маршруты для подсетей.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B85C910-DA9D-B506-FB85-FB4D101CD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2470" y="1426624"/>
            <a:ext cx="6935850" cy="1579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10FFB212-CC8B-4CFA-D041-92A442A65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0190" y="2627132"/>
            <a:ext cx="7216140" cy="223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389FF0-E6BC-3C42-42E0-E7DECE3CD66C}"/>
              </a:ext>
            </a:extLst>
          </p:cNvPr>
          <p:cNvSpPr txBox="1"/>
          <p:nvPr/>
        </p:nvSpPr>
        <p:spPr>
          <a:xfrm>
            <a:off x="556260" y="4943445"/>
            <a:ext cx="4572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00" dirty="0">
                <a:hlinkClick r:id="rId5"/>
              </a:rPr>
              <a:t>https://github.com/Darya2403/PostgreSQL.Advanced/blob/main/Project/Project.md</a:t>
            </a:r>
            <a:r>
              <a:rPr lang="ru-RU" sz="7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4419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758EED6C-2CC4-468B-46D6-1AC12B30D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6E7F11B7-F1A1-2065-608C-921D1E6AE8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400" dirty="0"/>
              <a:t>Настройка кластера </a:t>
            </a:r>
            <a:r>
              <a:rPr lang="en-US" sz="2400" dirty="0" err="1"/>
              <a:t>etcd</a:t>
            </a:r>
            <a:endParaRPr sz="2400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4D39D94C-F412-DAFE-6375-712A5BC74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9101" y="3600666"/>
            <a:ext cx="8225798" cy="133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3DFA0F-A0B0-E21C-5AFB-6A0B236C9A7B}"/>
              </a:ext>
            </a:extLst>
          </p:cNvPr>
          <p:cNvSpPr txBox="1"/>
          <p:nvPr/>
        </p:nvSpPr>
        <p:spPr>
          <a:xfrm>
            <a:off x="419100" y="885948"/>
            <a:ext cx="3032760" cy="27147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3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indent="0">
              <a:buNone/>
            </a:pPr>
            <a:r>
              <a:rPr lang="ru-RU" dirty="0" err="1"/>
              <a:t>etcd</a:t>
            </a:r>
            <a:r>
              <a:rPr lang="ru-RU" dirty="0"/>
              <a:t> — хранилище состояния кластера. </a:t>
            </a:r>
            <a:r>
              <a:rPr lang="ru-RU" dirty="0" err="1"/>
              <a:t>Patroni</a:t>
            </a:r>
            <a:r>
              <a:rPr lang="ru-RU" dirty="0"/>
              <a:t> использует его для выбора лидера и координации </a:t>
            </a:r>
            <a:r>
              <a:rPr lang="ru-RU" dirty="0" err="1"/>
              <a:t>failover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Настройка на трёх нодах:</a:t>
            </a:r>
          </a:p>
          <a:p>
            <a:r>
              <a:rPr lang="ru-RU" dirty="0"/>
              <a:t>Порт 2380 — общение между узлами </a:t>
            </a:r>
            <a:r>
              <a:rPr lang="ru-RU" dirty="0" err="1"/>
              <a:t>etcd</a:t>
            </a:r>
            <a:endParaRPr lang="ru-RU" dirty="0"/>
          </a:p>
          <a:p>
            <a:r>
              <a:rPr lang="ru-RU" dirty="0"/>
              <a:t>Порт 2379 — клиентские подключения</a:t>
            </a:r>
          </a:p>
          <a:p>
            <a:r>
              <a:rPr lang="ru-RU" dirty="0"/>
              <a:t>Конфигурация задаётся в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default</a:t>
            </a:r>
            <a:r>
              <a:rPr lang="ru-RU" dirty="0"/>
              <a:t>/</a:t>
            </a:r>
            <a:r>
              <a:rPr lang="ru-RU" dirty="0" err="1"/>
              <a:t>etcd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55E69-AFEA-67BD-0DF7-9A6ECE432A30}"/>
              </a:ext>
            </a:extLst>
          </p:cNvPr>
          <p:cNvSpPr txBox="1"/>
          <p:nvPr/>
        </p:nvSpPr>
        <p:spPr>
          <a:xfrm>
            <a:off x="377700" y="4943445"/>
            <a:ext cx="41943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00" dirty="0">
                <a:hlinkClick r:id="rId4"/>
              </a:rPr>
              <a:t>https://github.com/Darya2403/PostgreSQL.Advanced/blob/main/Project/configs%2Fetcd%2Fetcd.md</a:t>
            </a:r>
            <a:r>
              <a:rPr lang="ru-RU" sz="700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BB1975-179A-B068-3079-0FF64F93E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860" y="1233627"/>
            <a:ext cx="5209481" cy="204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1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3F21833-CA53-D9D1-3338-90F0EF6CD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6ABF5471-9AC3-C7D3-519E-2880B31473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400" dirty="0"/>
              <a:t>Установка </a:t>
            </a:r>
            <a:r>
              <a:rPr lang="en-US" sz="2400" dirty="0"/>
              <a:t>PostgreSQL 16, </a:t>
            </a:r>
            <a:r>
              <a:rPr lang="en-US" sz="2400" dirty="0" err="1"/>
              <a:t>Citus</a:t>
            </a:r>
            <a:r>
              <a:rPr lang="en-US" sz="2400" dirty="0"/>
              <a:t>, Patroni </a:t>
            </a:r>
            <a:r>
              <a:rPr lang="ru-RU" sz="2400" dirty="0"/>
              <a:t>на 6 узлах БД</a:t>
            </a: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DA5D6-2E79-5158-B811-2784F19180BA}"/>
              </a:ext>
            </a:extLst>
          </p:cNvPr>
          <p:cNvSpPr txBox="1"/>
          <p:nvPr/>
        </p:nvSpPr>
        <p:spPr>
          <a:xfrm>
            <a:off x="6056962" y="1579166"/>
            <a:ext cx="2817750" cy="247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Установка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PostgreSQL 16, 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добавление репозитория 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Citus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замена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noble 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 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jammy</a:t>
            </a:r>
            <a:endParaRPr lang="en-US" sz="13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Установка пакетов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postgresql-16-citus-12.1, python3-pip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Установка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Patroni: pip install 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patroni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etcd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 psycopg2-binary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Остановка и отключение стандартного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PostgreSQL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76633AC-5BD8-6775-B784-038667DA18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8958"/>
          <a:stretch>
            <a:fillRect/>
          </a:stretch>
        </p:blipFill>
        <p:spPr bwMode="auto">
          <a:xfrm>
            <a:off x="588391" y="1007646"/>
            <a:ext cx="5322134" cy="3617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88DA03-9A29-EF37-8D38-3A38B1E091EB}"/>
              </a:ext>
            </a:extLst>
          </p:cNvPr>
          <p:cNvSpPr txBox="1"/>
          <p:nvPr/>
        </p:nvSpPr>
        <p:spPr>
          <a:xfrm>
            <a:off x="18831" y="4933745"/>
            <a:ext cx="58051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00" dirty="0">
                <a:hlinkClick r:id="rId4"/>
              </a:rPr>
              <a:t>https://github.com/Darya2403/PostgreSQL.Advanced/blob/main/Project/configs%2Fpg-citus-patroni-cluster%2Fpg-citus-patroni-cluster.md</a:t>
            </a:r>
            <a:r>
              <a:rPr lang="ru-RU" sz="7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5995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71DFCDF5-652B-8CC3-B90B-40F2A9BF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6455AFBD-3101-7100-9EF9-9F427BC453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400" dirty="0"/>
              <a:t>Конфигурация </a:t>
            </a:r>
            <a:r>
              <a:rPr lang="ru-RU" sz="2400" dirty="0" err="1"/>
              <a:t>Patroni</a:t>
            </a:r>
            <a:r>
              <a:rPr lang="ru-RU" sz="2400" dirty="0"/>
              <a:t> (на 6 узлах)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22A9A1-4457-31BB-7A17-CD66E4FEBDCB}"/>
              </a:ext>
            </a:extLst>
          </p:cNvPr>
          <p:cNvSpPr txBox="1"/>
          <p:nvPr/>
        </p:nvSpPr>
        <p:spPr>
          <a:xfrm>
            <a:off x="5853243" y="694123"/>
            <a:ext cx="2848729" cy="4339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sz="400" dirty="0" err="1"/>
              <a:t>ssh</a:t>
            </a:r>
            <a:r>
              <a:rPr lang="ru-RU" sz="400" dirty="0"/>
              <a:t> -i ~/.</a:t>
            </a:r>
            <a:r>
              <a:rPr lang="ru-RU" sz="400" dirty="0" err="1"/>
              <a:t>ssh</a:t>
            </a:r>
            <a:r>
              <a:rPr lang="ru-RU" sz="400" dirty="0"/>
              <a:t>/</a:t>
            </a:r>
            <a:r>
              <a:rPr lang="ru-RU" sz="400" dirty="0" err="1"/>
              <a:t>bananaflow</a:t>
            </a:r>
            <a:r>
              <a:rPr lang="ru-RU" sz="400" dirty="0"/>
              <a:t> yc-user@10.128.0.20</a:t>
            </a:r>
          </a:p>
          <a:p>
            <a:r>
              <a:rPr lang="ru-RU" sz="400" dirty="0" err="1"/>
              <a:t>sudo</a:t>
            </a:r>
            <a:r>
              <a:rPr lang="ru-RU" sz="400" dirty="0"/>
              <a:t> </a:t>
            </a:r>
            <a:r>
              <a:rPr lang="ru-RU" sz="400" dirty="0" err="1"/>
              <a:t>tee</a:t>
            </a:r>
            <a:r>
              <a:rPr lang="ru-RU" sz="400" dirty="0"/>
              <a:t> /</a:t>
            </a:r>
            <a:r>
              <a:rPr lang="ru-RU" sz="400" dirty="0" err="1"/>
              <a:t>etc</a:t>
            </a:r>
            <a:r>
              <a:rPr lang="ru-RU" sz="400" dirty="0"/>
              <a:t>/</a:t>
            </a:r>
            <a:r>
              <a:rPr lang="ru-RU" sz="400" dirty="0" err="1"/>
              <a:t>patroni.yml</a:t>
            </a:r>
            <a:r>
              <a:rPr lang="ru-RU" sz="400" dirty="0"/>
              <a:t> &lt;&lt;EOF</a:t>
            </a:r>
          </a:p>
          <a:p>
            <a:r>
              <a:rPr lang="ru-RU" sz="400" dirty="0" err="1"/>
              <a:t>scope</a:t>
            </a:r>
            <a:r>
              <a:rPr lang="ru-RU" sz="400" dirty="0"/>
              <a:t>: </a:t>
            </a:r>
            <a:r>
              <a:rPr lang="ru-RU" sz="400" dirty="0" err="1"/>
              <a:t>citus_coord</a:t>
            </a:r>
            <a:endParaRPr lang="ru-RU" sz="400" dirty="0"/>
          </a:p>
          <a:p>
            <a:r>
              <a:rPr lang="ru-RU" sz="400" dirty="0" err="1"/>
              <a:t>name</a:t>
            </a:r>
            <a:r>
              <a:rPr lang="ru-RU" sz="400" dirty="0"/>
              <a:t>: coord-1</a:t>
            </a:r>
          </a:p>
          <a:p>
            <a:endParaRPr lang="ru-RU" sz="400" dirty="0"/>
          </a:p>
          <a:p>
            <a:r>
              <a:rPr lang="ru-RU" sz="400" dirty="0"/>
              <a:t>etcd3:</a:t>
            </a:r>
          </a:p>
          <a:p>
            <a:r>
              <a:rPr lang="ru-RU" sz="400" dirty="0"/>
              <a:t>  </a:t>
            </a:r>
            <a:r>
              <a:rPr lang="ru-RU" sz="400" dirty="0" err="1"/>
              <a:t>hosts</a:t>
            </a:r>
            <a:r>
              <a:rPr lang="ru-RU" sz="400" dirty="0"/>
              <a:t>:</a:t>
            </a:r>
          </a:p>
          <a:p>
            <a:r>
              <a:rPr lang="ru-RU" sz="400" dirty="0"/>
              <a:t>    - "10.128.0.10:2379"</a:t>
            </a:r>
          </a:p>
          <a:p>
            <a:endParaRPr lang="ru-RU" sz="400" dirty="0"/>
          </a:p>
          <a:p>
            <a:r>
              <a:rPr lang="ru-RU" sz="400" dirty="0" err="1"/>
              <a:t>restapi</a:t>
            </a:r>
            <a:r>
              <a:rPr lang="ru-RU" sz="400" dirty="0"/>
              <a:t>:</a:t>
            </a:r>
          </a:p>
          <a:p>
            <a:r>
              <a:rPr lang="ru-RU" sz="400" dirty="0"/>
              <a:t>  </a:t>
            </a:r>
            <a:r>
              <a:rPr lang="ru-RU" sz="400" dirty="0" err="1"/>
              <a:t>listen</a:t>
            </a:r>
            <a:r>
              <a:rPr lang="ru-RU" sz="400" dirty="0"/>
              <a:t>: "0.0.0.0:8008"</a:t>
            </a:r>
          </a:p>
          <a:p>
            <a:r>
              <a:rPr lang="ru-RU" sz="400" dirty="0"/>
              <a:t>  </a:t>
            </a:r>
            <a:r>
              <a:rPr lang="ru-RU" sz="400" dirty="0" err="1"/>
              <a:t>connect_address</a:t>
            </a:r>
            <a:r>
              <a:rPr lang="ru-RU" sz="400" dirty="0"/>
              <a:t>: "10.128.0.20:8008"</a:t>
            </a:r>
          </a:p>
          <a:p>
            <a:endParaRPr lang="ru-RU" sz="400" dirty="0"/>
          </a:p>
          <a:p>
            <a:r>
              <a:rPr lang="ru-RU" sz="400" dirty="0" err="1"/>
              <a:t>bootstrap</a:t>
            </a:r>
            <a:r>
              <a:rPr lang="ru-RU" sz="400" dirty="0"/>
              <a:t>:</a:t>
            </a:r>
          </a:p>
          <a:p>
            <a:r>
              <a:rPr lang="ru-RU" sz="400" dirty="0"/>
              <a:t>  </a:t>
            </a:r>
            <a:r>
              <a:rPr lang="ru-RU" sz="400" dirty="0" err="1"/>
              <a:t>method</a:t>
            </a:r>
            <a:r>
              <a:rPr lang="ru-RU" sz="400" dirty="0"/>
              <a:t>: </a:t>
            </a:r>
            <a:r>
              <a:rPr lang="ru-RU" sz="400" dirty="0" err="1"/>
              <a:t>initdb</a:t>
            </a:r>
            <a:endParaRPr lang="ru-RU" sz="400" dirty="0"/>
          </a:p>
          <a:p>
            <a:r>
              <a:rPr lang="ru-RU" sz="400" dirty="0"/>
              <a:t>  </a:t>
            </a:r>
            <a:r>
              <a:rPr lang="ru-RU" sz="400" dirty="0" err="1"/>
              <a:t>initdb</a:t>
            </a:r>
            <a:r>
              <a:rPr lang="ru-RU" sz="400" dirty="0"/>
              <a:t>:</a:t>
            </a:r>
          </a:p>
          <a:p>
            <a:r>
              <a:rPr lang="ru-RU" sz="400" dirty="0"/>
              <a:t>    - </a:t>
            </a:r>
            <a:r>
              <a:rPr lang="ru-RU" sz="400" dirty="0" err="1"/>
              <a:t>encoding</a:t>
            </a:r>
            <a:r>
              <a:rPr lang="ru-RU" sz="400" dirty="0"/>
              <a:t>: UTF8</a:t>
            </a:r>
          </a:p>
          <a:p>
            <a:r>
              <a:rPr lang="ru-RU" sz="400" dirty="0"/>
              <a:t>    - </a:t>
            </a:r>
            <a:r>
              <a:rPr lang="ru-RU" sz="400" dirty="0" err="1"/>
              <a:t>data-checksums</a:t>
            </a:r>
            <a:endParaRPr lang="ru-RU" sz="400" dirty="0"/>
          </a:p>
          <a:p>
            <a:r>
              <a:rPr lang="ru-RU" sz="400" dirty="0"/>
              <a:t>  </a:t>
            </a:r>
            <a:r>
              <a:rPr lang="ru-RU" sz="400" dirty="0" err="1"/>
              <a:t>pg_hba</a:t>
            </a:r>
            <a:r>
              <a:rPr lang="ru-RU" sz="400" dirty="0"/>
              <a:t>:</a:t>
            </a:r>
          </a:p>
          <a:p>
            <a:r>
              <a:rPr lang="ru-RU" sz="400" dirty="0"/>
              <a:t>    - </a:t>
            </a:r>
            <a:r>
              <a:rPr lang="ru-RU" sz="400" dirty="0" err="1"/>
              <a:t>local</a:t>
            </a:r>
            <a:r>
              <a:rPr lang="ru-RU" sz="400" dirty="0"/>
              <a:t> </a:t>
            </a:r>
            <a:r>
              <a:rPr lang="ru-RU" sz="400" dirty="0" err="1"/>
              <a:t>all</a:t>
            </a:r>
            <a:r>
              <a:rPr lang="ru-RU" sz="400" dirty="0"/>
              <a:t> </a:t>
            </a:r>
            <a:r>
              <a:rPr lang="ru-RU" sz="400" dirty="0" err="1"/>
              <a:t>all</a:t>
            </a:r>
            <a:r>
              <a:rPr lang="ru-RU" sz="400" dirty="0"/>
              <a:t> </a:t>
            </a:r>
            <a:r>
              <a:rPr lang="ru-RU" sz="400" dirty="0" err="1"/>
              <a:t>trust</a:t>
            </a:r>
            <a:endParaRPr lang="ru-RU" sz="400" dirty="0"/>
          </a:p>
          <a:p>
            <a:r>
              <a:rPr lang="ru-RU" sz="400" dirty="0"/>
              <a:t>    - </a:t>
            </a:r>
            <a:r>
              <a:rPr lang="ru-RU" sz="400" dirty="0" err="1"/>
              <a:t>host</a:t>
            </a:r>
            <a:r>
              <a:rPr lang="ru-RU" sz="400" dirty="0"/>
              <a:t> </a:t>
            </a:r>
            <a:r>
              <a:rPr lang="ru-RU" sz="400" dirty="0" err="1"/>
              <a:t>all</a:t>
            </a:r>
            <a:r>
              <a:rPr lang="ru-RU" sz="400" dirty="0"/>
              <a:t> </a:t>
            </a:r>
            <a:r>
              <a:rPr lang="ru-RU" sz="400" dirty="0" err="1"/>
              <a:t>all</a:t>
            </a:r>
            <a:r>
              <a:rPr lang="ru-RU" sz="400" dirty="0"/>
              <a:t> 127.0.0.1/32 </a:t>
            </a:r>
            <a:r>
              <a:rPr lang="ru-RU" sz="400" dirty="0" err="1"/>
              <a:t>trust</a:t>
            </a:r>
            <a:endParaRPr lang="ru-RU" sz="400" dirty="0"/>
          </a:p>
          <a:p>
            <a:r>
              <a:rPr lang="ru-RU" sz="400" dirty="0"/>
              <a:t>    - </a:t>
            </a:r>
            <a:r>
              <a:rPr lang="ru-RU" sz="400" dirty="0" err="1"/>
              <a:t>host</a:t>
            </a:r>
            <a:r>
              <a:rPr lang="ru-RU" sz="400" dirty="0"/>
              <a:t> </a:t>
            </a:r>
            <a:r>
              <a:rPr lang="ru-RU" sz="400" dirty="0" err="1"/>
              <a:t>all</a:t>
            </a:r>
            <a:r>
              <a:rPr lang="ru-RU" sz="400" dirty="0"/>
              <a:t> </a:t>
            </a:r>
            <a:r>
              <a:rPr lang="ru-RU" sz="400" dirty="0" err="1"/>
              <a:t>all</a:t>
            </a:r>
            <a:r>
              <a:rPr lang="ru-RU" sz="400" dirty="0"/>
              <a:t> 0.0.0.0/0 md5</a:t>
            </a:r>
          </a:p>
          <a:p>
            <a:r>
              <a:rPr lang="ru-RU" sz="400" dirty="0"/>
              <a:t>    - </a:t>
            </a:r>
            <a:r>
              <a:rPr lang="ru-RU" sz="400" dirty="0" err="1"/>
              <a:t>host</a:t>
            </a:r>
            <a:r>
              <a:rPr lang="ru-RU" sz="400" dirty="0"/>
              <a:t> </a:t>
            </a:r>
            <a:r>
              <a:rPr lang="ru-RU" sz="400" dirty="0" err="1"/>
              <a:t>replication</a:t>
            </a:r>
            <a:r>
              <a:rPr lang="ru-RU" sz="400" dirty="0"/>
              <a:t> </a:t>
            </a:r>
            <a:r>
              <a:rPr lang="ru-RU" sz="400" dirty="0" err="1"/>
              <a:t>replicator</a:t>
            </a:r>
            <a:r>
              <a:rPr lang="ru-RU" sz="400" dirty="0"/>
              <a:t> 0.0.0.0/0 md5</a:t>
            </a:r>
          </a:p>
          <a:p>
            <a:r>
              <a:rPr lang="ru-RU" sz="400" dirty="0"/>
              <a:t>  </a:t>
            </a:r>
            <a:r>
              <a:rPr lang="ru-RU" sz="400" dirty="0" err="1"/>
              <a:t>post_init</a:t>
            </a:r>
            <a:r>
              <a:rPr lang="ru-RU" sz="400" dirty="0"/>
              <a:t>: |</a:t>
            </a:r>
          </a:p>
          <a:p>
            <a:r>
              <a:rPr lang="ru-RU" sz="400" dirty="0"/>
              <a:t>    #!/bin/bash</a:t>
            </a:r>
          </a:p>
          <a:p>
            <a:r>
              <a:rPr lang="ru-RU" sz="400" dirty="0"/>
              <a:t>    for i </a:t>
            </a:r>
            <a:r>
              <a:rPr lang="ru-RU" sz="400" dirty="0" err="1"/>
              <a:t>in</a:t>
            </a:r>
            <a:r>
              <a:rPr lang="ru-RU" sz="400" dirty="0"/>
              <a:t> {1..60}; </a:t>
            </a:r>
            <a:r>
              <a:rPr lang="ru-RU" sz="400" dirty="0" err="1"/>
              <a:t>do</a:t>
            </a:r>
            <a:endParaRPr lang="ru-RU" sz="400" dirty="0"/>
          </a:p>
          <a:p>
            <a:r>
              <a:rPr lang="ru-RU" sz="400" dirty="0"/>
              <a:t>      </a:t>
            </a:r>
            <a:r>
              <a:rPr lang="ru-RU" sz="400" dirty="0" err="1"/>
              <a:t>if</a:t>
            </a:r>
            <a:r>
              <a:rPr lang="ru-RU" sz="400" dirty="0"/>
              <a:t> /</a:t>
            </a:r>
            <a:r>
              <a:rPr lang="ru-RU" sz="400" dirty="0" err="1"/>
              <a:t>usr</a:t>
            </a:r>
            <a:r>
              <a:rPr lang="ru-RU" sz="400" dirty="0"/>
              <a:t>/</a:t>
            </a:r>
            <a:r>
              <a:rPr lang="ru-RU" sz="400" dirty="0" err="1"/>
              <a:t>lib</a:t>
            </a:r>
            <a:r>
              <a:rPr lang="ru-RU" sz="400" dirty="0"/>
              <a:t>/</a:t>
            </a:r>
            <a:r>
              <a:rPr lang="ru-RU" sz="400" dirty="0" err="1"/>
              <a:t>postgresql</a:t>
            </a:r>
            <a:r>
              <a:rPr lang="ru-RU" sz="400" dirty="0"/>
              <a:t>/16/</a:t>
            </a:r>
            <a:r>
              <a:rPr lang="ru-RU" sz="400" dirty="0" err="1"/>
              <a:t>bin</a:t>
            </a:r>
            <a:r>
              <a:rPr lang="ru-RU" sz="400" dirty="0"/>
              <a:t>/</a:t>
            </a:r>
            <a:r>
              <a:rPr lang="ru-RU" sz="400" dirty="0" err="1"/>
              <a:t>psql</a:t>
            </a:r>
            <a:r>
              <a:rPr lang="ru-RU" sz="400" dirty="0"/>
              <a:t> -c "SELECT 1;" &gt;/</a:t>
            </a:r>
            <a:r>
              <a:rPr lang="ru-RU" sz="400" dirty="0" err="1"/>
              <a:t>dev</a:t>
            </a:r>
            <a:r>
              <a:rPr lang="ru-RU" sz="400" dirty="0"/>
              <a:t>/</a:t>
            </a:r>
            <a:r>
              <a:rPr lang="ru-RU" sz="400" dirty="0" err="1"/>
              <a:t>null</a:t>
            </a:r>
            <a:r>
              <a:rPr lang="ru-RU" sz="400" dirty="0"/>
              <a:t> 2&gt;&amp;1; </a:t>
            </a:r>
            <a:r>
              <a:rPr lang="ru-RU" sz="400" dirty="0" err="1"/>
              <a:t>then</a:t>
            </a:r>
            <a:endParaRPr lang="ru-RU" sz="400" dirty="0"/>
          </a:p>
          <a:p>
            <a:r>
              <a:rPr lang="ru-RU" sz="400" dirty="0"/>
              <a:t>        /</a:t>
            </a:r>
            <a:r>
              <a:rPr lang="ru-RU" sz="400" dirty="0" err="1"/>
              <a:t>usr</a:t>
            </a:r>
            <a:r>
              <a:rPr lang="ru-RU" sz="400" dirty="0"/>
              <a:t>/</a:t>
            </a:r>
            <a:r>
              <a:rPr lang="ru-RU" sz="400" dirty="0" err="1"/>
              <a:t>lib</a:t>
            </a:r>
            <a:r>
              <a:rPr lang="ru-RU" sz="400" dirty="0"/>
              <a:t>/</a:t>
            </a:r>
            <a:r>
              <a:rPr lang="ru-RU" sz="400" dirty="0" err="1"/>
              <a:t>postgresql</a:t>
            </a:r>
            <a:r>
              <a:rPr lang="ru-RU" sz="400" dirty="0"/>
              <a:t>/16/</a:t>
            </a:r>
            <a:r>
              <a:rPr lang="ru-RU" sz="400" dirty="0" err="1"/>
              <a:t>bin</a:t>
            </a:r>
            <a:r>
              <a:rPr lang="ru-RU" sz="400" dirty="0"/>
              <a:t>/</a:t>
            </a:r>
            <a:r>
              <a:rPr lang="ru-RU" sz="400" dirty="0" err="1"/>
              <a:t>psql</a:t>
            </a:r>
            <a:r>
              <a:rPr lang="ru-RU" sz="400" dirty="0"/>
              <a:t> -c "CREATE USER </a:t>
            </a:r>
            <a:r>
              <a:rPr lang="ru-RU" sz="400" dirty="0" err="1"/>
              <a:t>replicator</a:t>
            </a:r>
            <a:r>
              <a:rPr lang="ru-RU" sz="400" dirty="0"/>
              <a:t> WITH REPLICATION PASSWORD '</a:t>
            </a:r>
            <a:r>
              <a:rPr lang="ru-RU" sz="400" dirty="0" err="1"/>
              <a:t>rep-pass</a:t>
            </a:r>
            <a:r>
              <a:rPr lang="ru-RU" sz="400" dirty="0"/>
              <a:t>';"</a:t>
            </a:r>
          </a:p>
          <a:p>
            <a:r>
              <a:rPr lang="ru-RU" sz="400" dirty="0"/>
              <a:t>        /</a:t>
            </a:r>
            <a:r>
              <a:rPr lang="ru-RU" sz="400" dirty="0" err="1"/>
              <a:t>usr</a:t>
            </a:r>
            <a:r>
              <a:rPr lang="ru-RU" sz="400" dirty="0"/>
              <a:t>/</a:t>
            </a:r>
            <a:r>
              <a:rPr lang="ru-RU" sz="400" dirty="0" err="1"/>
              <a:t>lib</a:t>
            </a:r>
            <a:r>
              <a:rPr lang="ru-RU" sz="400" dirty="0"/>
              <a:t>/</a:t>
            </a:r>
            <a:r>
              <a:rPr lang="ru-RU" sz="400" dirty="0" err="1"/>
              <a:t>postgresql</a:t>
            </a:r>
            <a:r>
              <a:rPr lang="ru-RU" sz="400" dirty="0"/>
              <a:t>/16/</a:t>
            </a:r>
            <a:r>
              <a:rPr lang="ru-RU" sz="400" dirty="0" err="1"/>
              <a:t>bin</a:t>
            </a:r>
            <a:r>
              <a:rPr lang="ru-RU" sz="400" dirty="0"/>
              <a:t>/</a:t>
            </a:r>
            <a:r>
              <a:rPr lang="ru-RU" sz="400" dirty="0" err="1"/>
              <a:t>psql</a:t>
            </a:r>
            <a:r>
              <a:rPr lang="ru-RU" sz="400" dirty="0"/>
              <a:t> -c "ALTER USER </a:t>
            </a:r>
            <a:r>
              <a:rPr lang="ru-RU" sz="400" dirty="0" err="1"/>
              <a:t>postgres</a:t>
            </a:r>
            <a:r>
              <a:rPr lang="ru-RU" sz="400" dirty="0"/>
              <a:t> PASSWORD '</a:t>
            </a:r>
            <a:r>
              <a:rPr lang="ru-RU" sz="400" dirty="0" err="1"/>
              <a:t>postgres-pass</a:t>
            </a:r>
            <a:r>
              <a:rPr lang="ru-RU" sz="400" dirty="0"/>
              <a:t>';"</a:t>
            </a:r>
          </a:p>
          <a:p>
            <a:r>
              <a:rPr lang="ru-RU" sz="400" dirty="0"/>
              <a:t>        /</a:t>
            </a:r>
            <a:r>
              <a:rPr lang="ru-RU" sz="400" dirty="0" err="1"/>
              <a:t>usr</a:t>
            </a:r>
            <a:r>
              <a:rPr lang="ru-RU" sz="400" dirty="0"/>
              <a:t>/</a:t>
            </a:r>
            <a:r>
              <a:rPr lang="ru-RU" sz="400" dirty="0" err="1"/>
              <a:t>lib</a:t>
            </a:r>
            <a:r>
              <a:rPr lang="ru-RU" sz="400" dirty="0"/>
              <a:t>/</a:t>
            </a:r>
            <a:r>
              <a:rPr lang="ru-RU" sz="400" dirty="0" err="1"/>
              <a:t>postgresql</a:t>
            </a:r>
            <a:r>
              <a:rPr lang="ru-RU" sz="400" dirty="0"/>
              <a:t>/16/</a:t>
            </a:r>
            <a:r>
              <a:rPr lang="ru-RU" sz="400" dirty="0" err="1"/>
              <a:t>bin</a:t>
            </a:r>
            <a:r>
              <a:rPr lang="ru-RU" sz="400" dirty="0"/>
              <a:t>/</a:t>
            </a:r>
            <a:r>
              <a:rPr lang="ru-RU" sz="400" dirty="0" err="1"/>
              <a:t>psql</a:t>
            </a:r>
            <a:r>
              <a:rPr lang="ru-RU" sz="400" dirty="0"/>
              <a:t> -c "CREATE EXTENSION IF NOT EXISTS </a:t>
            </a:r>
            <a:r>
              <a:rPr lang="ru-RU" sz="400" dirty="0" err="1"/>
              <a:t>citus</a:t>
            </a:r>
            <a:r>
              <a:rPr lang="ru-RU" sz="400" dirty="0"/>
              <a:t>;" &amp;&amp; </a:t>
            </a:r>
            <a:r>
              <a:rPr lang="ru-RU" sz="400" dirty="0" err="1"/>
              <a:t>break</a:t>
            </a:r>
            <a:endParaRPr lang="ru-RU" sz="400" dirty="0"/>
          </a:p>
          <a:p>
            <a:r>
              <a:rPr lang="ru-RU" sz="400" dirty="0"/>
              <a:t>      </a:t>
            </a:r>
            <a:r>
              <a:rPr lang="ru-RU" sz="400" dirty="0" err="1"/>
              <a:t>fi</a:t>
            </a:r>
            <a:endParaRPr lang="ru-RU" sz="400" dirty="0"/>
          </a:p>
          <a:p>
            <a:r>
              <a:rPr lang="ru-RU" sz="400" dirty="0"/>
              <a:t>      </a:t>
            </a:r>
            <a:r>
              <a:rPr lang="ru-RU" sz="400" dirty="0" err="1"/>
              <a:t>sleep</a:t>
            </a:r>
            <a:r>
              <a:rPr lang="ru-RU" sz="400" dirty="0"/>
              <a:t> 1</a:t>
            </a:r>
          </a:p>
          <a:p>
            <a:r>
              <a:rPr lang="ru-RU" sz="400" dirty="0"/>
              <a:t>    </a:t>
            </a:r>
            <a:r>
              <a:rPr lang="ru-RU" sz="400" dirty="0" err="1"/>
              <a:t>done</a:t>
            </a:r>
            <a:endParaRPr lang="ru-RU" sz="400" dirty="0"/>
          </a:p>
          <a:p>
            <a:r>
              <a:rPr lang="ru-RU" sz="400" dirty="0"/>
              <a:t>  </a:t>
            </a:r>
            <a:r>
              <a:rPr lang="ru-RU" sz="400" dirty="0" err="1"/>
              <a:t>dcs</a:t>
            </a:r>
            <a:r>
              <a:rPr lang="ru-RU" sz="400" dirty="0"/>
              <a:t>:</a:t>
            </a:r>
          </a:p>
          <a:p>
            <a:r>
              <a:rPr lang="ru-RU" sz="400" dirty="0"/>
              <a:t>    </a:t>
            </a:r>
            <a:r>
              <a:rPr lang="ru-RU" sz="400" dirty="0" err="1"/>
              <a:t>ttl</a:t>
            </a:r>
            <a:r>
              <a:rPr lang="ru-RU" sz="400" dirty="0"/>
              <a:t>: 30</a:t>
            </a:r>
          </a:p>
          <a:p>
            <a:r>
              <a:rPr lang="ru-RU" sz="400" dirty="0"/>
              <a:t>    </a:t>
            </a:r>
            <a:r>
              <a:rPr lang="ru-RU" sz="400" dirty="0" err="1"/>
              <a:t>loop_wait</a:t>
            </a:r>
            <a:r>
              <a:rPr lang="ru-RU" sz="400" dirty="0"/>
              <a:t>: 10</a:t>
            </a:r>
          </a:p>
          <a:p>
            <a:r>
              <a:rPr lang="ru-RU" sz="400" dirty="0"/>
              <a:t>    </a:t>
            </a:r>
            <a:r>
              <a:rPr lang="ru-RU" sz="400" dirty="0" err="1"/>
              <a:t>retry_timeout</a:t>
            </a:r>
            <a:r>
              <a:rPr lang="ru-RU" sz="400" dirty="0"/>
              <a:t>: 10</a:t>
            </a:r>
          </a:p>
          <a:p>
            <a:r>
              <a:rPr lang="ru-RU" sz="400" dirty="0"/>
              <a:t>    </a:t>
            </a:r>
            <a:r>
              <a:rPr lang="ru-RU" sz="400" dirty="0" err="1"/>
              <a:t>maximum_lag_on_failover</a:t>
            </a:r>
            <a:r>
              <a:rPr lang="ru-RU" sz="400" dirty="0"/>
              <a:t>: 1048576</a:t>
            </a:r>
          </a:p>
          <a:p>
            <a:r>
              <a:rPr lang="ru-RU" sz="400" dirty="0"/>
              <a:t>    </a:t>
            </a:r>
            <a:r>
              <a:rPr lang="ru-RU" sz="400" dirty="0" err="1"/>
              <a:t>postgresql</a:t>
            </a:r>
            <a:r>
              <a:rPr lang="ru-RU" sz="400" dirty="0"/>
              <a:t>:</a:t>
            </a:r>
          </a:p>
          <a:p>
            <a:r>
              <a:rPr lang="ru-RU" sz="400" dirty="0"/>
              <a:t>      </a:t>
            </a:r>
            <a:r>
              <a:rPr lang="ru-RU" sz="400" dirty="0" err="1"/>
              <a:t>use_pg_rewind</a:t>
            </a:r>
            <a:r>
              <a:rPr lang="ru-RU" sz="400" dirty="0"/>
              <a:t>: </a:t>
            </a:r>
            <a:r>
              <a:rPr lang="ru-RU" sz="400" dirty="0" err="1"/>
              <a:t>true</a:t>
            </a:r>
            <a:endParaRPr lang="ru-RU" sz="400" dirty="0"/>
          </a:p>
          <a:p>
            <a:r>
              <a:rPr lang="ru-RU" sz="400" dirty="0"/>
              <a:t>      </a:t>
            </a:r>
            <a:r>
              <a:rPr lang="ru-RU" sz="400" dirty="0" err="1"/>
              <a:t>parameters</a:t>
            </a:r>
            <a:r>
              <a:rPr lang="ru-RU" sz="400" dirty="0"/>
              <a:t>:</a:t>
            </a:r>
          </a:p>
          <a:p>
            <a:r>
              <a:rPr lang="ru-RU" sz="400" dirty="0"/>
              <a:t>        </a:t>
            </a:r>
            <a:r>
              <a:rPr lang="ru-RU" sz="400" dirty="0" err="1"/>
              <a:t>shared_preload_libraries</a:t>
            </a:r>
            <a:r>
              <a:rPr lang="ru-RU" sz="400" dirty="0"/>
              <a:t>: </a:t>
            </a:r>
            <a:r>
              <a:rPr lang="ru-RU" sz="400" dirty="0" err="1"/>
              <a:t>citus</a:t>
            </a:r>
            <a:endParaRPr lang="ru-RU" sz="400" dirty="0"/>
          </a:p>
          <a:p>
            <a:r>
              <a:rPr lang="ru-RU" sz="400" dirty="0"/>
              <a:t>        </a:t>
            </a:r>
            <a:r>
              <a:rPr lang="ru-RU" sz="400" dirty="0" err="1"/>
              <a:t>wal_level</a:t>
            </a:r>
            <a:r>
              <a:rPr lang="ru-RU" sz="400" dirty="0"/>
              <a:t>: </a:t>
            </a:r>
            <a:r>
              <a:rPr lang="ru-RU" sz="400" dirty="0" err="1"/>
              <a:t>logical</a:t>
            </a:r>
            <a:endParaRPr lang="ru-RU" sz="400" dirty="0"/>
          </a:p>
          <a:p>
            <a:r>
              <a:rPr lang="ru-RU" sz="400" dirty="0"/>
              <a:t>        </a:t>
            </a:r>
            <a:r>
              <a:rPr lang="ru-RU" sz="400" dirty="0" err="1"/>
              <a:t>max_replication_slots</a:t>
            </a:r>
            <a:r>
              <a:rPr lang="ru-RU" sz="400" dirty="0"/>
              <a:t>: 10</a:t>
            </a:r>
          </a:p>
          <a:p>
            <a:r>
              <a:rPr lang="ru-RU" sz="400" dirty="0"/>
              <a:t>        </a:t>
            </a:r>
            <a:r>
              <a:rPr lang="ru-RU" sz="400" dirty="0" err="1"/>
              <a:t>max_connections</a:t>
            </a:r>
            <a:r>
              <a:rPr lang="ru-RU" sz="400" dirty="0"/>
              <a:t>: 200</a:t>
            </a:r>
          </a:p>
          <a:p>
            <a:endParaRPr lang="ru-RU" sz="400" dirty="0"/>
          </a:p>
          <a:p>
            <a:r>
              <a:rPr lang="ru-RU" sz="400" dirty="0" err="1"/>
              <a:t>postgresql</a:t>
            </a:r>
            <a:r>
              <a:rPr lang="ru-RU" sz="400" dirty="0"/>
              <a:t>:</a:t>
            </a:r>
          </a:p>
          <a:p>
            <a:r>
              <a:rPr lang="ru-RU" sz="400" dirty="0"/>
              <a:t>  </a:t>
            </a:r>
            <a:r>
              <a:rPr lang="ru-RU" sz="400" dirty="0" err="1"/>
              <a:t>listen</a:t>
            </a:r>
            <a:r>
              <a:rPr lang="ru-RU" sz="400" dirty="0"/>
              <a:t>: "0.0.0.0:5432"</a:t>
            </a:r>
          </a:p>
          <a:p>
            <a:r>
              <a:rPr lang="ru-RU" sz="400" dirty="0"/>
              <a:t>  </a:t>
            </a:r>
            <a:r>
              <a:rPr lang="ru-RU" sz="400" dirty="0" err="1"/>
              <a:t>connect_address</a:t>
            </a:r>
            <a:r>
              <a:rPr lang="ru-RU" sz="400" dirty="0"/>
              <a:t>: "10.128.0.20:5432"</a:t>
            </a:r>
          </a:p>
          <a:p>
            <a:r>
              <a:rPr lang="ru-RU" sz="400" dirty="0"/>
              <a:t>  </a:t>
            </a:r>
            <a:r>
              <a:rPr lang="ru-RU" sz="400" dirty="0" err="1"/>
              <a:t>data_dir</a:t>
            </a:r>
            <a:r>
              <a:rPr lang="ru-RU" sz="400" dirty="0"/>
              <a:t>: /</a:t>
            </a:r>
            <a:r>
              <a:rPr lang="ru-RU" sz="400" dirty="0" err="1"/>
              <a:t>var</a:t>
            </a:r>
            <a:r>
              <a:rPr lang="ru-RU" sz="400" dirty="0"/>
              <a:t>/</a:t>
            </a:r>
            <a:r>
              <a:rPr lang="ru-RU" sz="400" dirty="0" err="1"/>
              <a:t>lib</a:t>
            </a:r>
            <a:r>
              <a:rPr lang="ru-RU" sz="400" dirty="0"/>
              <a:t>/</a:t>
            </a:r>
            <a:r>
              <a:rPr lang="ru-RU" sz="400" dirty="0" err="1"/>
              <a:t>postgresql</a:t>
            </a:r>
            <a:r>
              <a:rPr lang="ru-RU" sz="400" dirty="0"/>
              <a:t>/16/</a:t>
            </a:r>
            <a:r>
              <a:rPr lang="ru-RU" sz="400" dirty="0" err="1"/>
              <a:t>main</a:t>
            </a:r>
            <a:endParaRPr lang="ru-RU" sz="400" dirty="0"/>
          </a:p>
          <a:p>
            <a:r>
              <a:rPr lang="ru-RU" sz="400" dirty="0"/>
              <a:t>  </a:t>
            </a:r>
            <a:r>
              <a:rPr lang="ru-RU" sz="400" dirty="0" err="1"/>
              <a:t>bin_dir</a:t>
            </a:r>
            <a:r>
              <a:rPr lang="ru-RU" sz="400" dirty="0"/>
              <a:t>: /</a:t>
            </a:r>
            <a:r>
              <a:rPr lang="ru-RU" sz="400" dirty="0" err="1"/>
              <a:t>usr</a:t>
            </a:r>
            <a:r>
              <a:rPr lang="ru-RU" sz="400" dirty="0"/>
              <a:t>/</a:t>
            </a:r>
            <a:r>
              <a:rPr lang="ru-RU" sz="400" dirty="0" err="1"/>
              <a:t>lib</a:t>
            </a:r>
            <a:r>
              <a:rPr lang="ru-RU" sz="400" dirty="0"/>
              <a:t>/</a:t>
            </a:r>
            <a:r>
              <a:rPr lang="ru-RU" sz="400" dirty="0" err="1"/>
              <a:t>postgresql</a:t>
            </a:r>
            <a:r>
              <a:rPr lang="ru-RU" sz="400" dirty="0"/>
              <a:t>/16/</a:t>
            </a:r>
            <a:r>
              <a:rPr lang="ru-RU" sz="400" dirty="0" err="1"/>
              <a:t>bin</a:t>
            </a:r>
            <a:endParaRPr lang="ru-RU" sz="400" dirty="0"/>
          </a:p>
          <a:p>
            <a:r>
              <a:rPr lang="ru-RU" sz="400" dirty="0"/>
              <a:t>  </a:t>
            </a:r>
            <a:r>
              <a:rPr lang="ru-RU" sz="400" dirty="0" err="1"/>
              <a:t>pgpass</a:t>
            </a:r>
            <a:r>
              <a:rPr lang="ru-RU" sz="400" dirty="0"/>
              <a:t>: /</a:t>
            </a:r>
            <a:r>
              <a:rPr lang="ru-RU" sz="400" dirty="0" err="1"/>
              <a:t>var</a:t>
            </a:r>
            <a:r>
              <a:rPr lang="ru-RU" sz="400" dirty="0"/>
              <a:t>/</a:t>
            </a:r>
            <a:r>
              <a:rPr lang="ru-RU" sz="400" dirty="0" err="1"/>
              <a:t>lib</a:t>
            </a:r>
            <a:r>
              <a:rPr lang="ru-RU" sz="400" dirty="0"/>
              <a:t>/</a:t>
            </a:r>
            <a:r>
              <a:rPr lang="ru-RU" sz="400" dirty="0" err="1"/>
              <a:t>postgresql</a:t>
            </a:r>
            <a:r>
              <a:rPr lang="ru-RU" sz="400" dirty="0"/>
              <a:t>/.</a:t>
            </a:r>
            <a:r>
              <a:rPr lang="ru-RU" sz="400" dirty="0" err="1"/>
              <a:t>pgpass</a:t>
            </a:r>
            <a:endParaRPr lang="ru-RU" sz="400" dirty="0"/>
          </a:p>
          <a:p>
            <a:r>
              <a:rPr lang="ru-RU" sz="400" dirty="0"/>
              <a:t>  </a:t>
            </a:r>
            <a:r>
              <a:rPr lang="ru-RU" sz="400" dirty="0" err="1"/>
              <a:t>authentication</a:t>
            </a:r>
            <a:r>
              <a:rPr lang="ru-RU" sz="400" dirty="0"/>
              <a:t>:</a:t>
            </a:r>
          </a:p>
          <a:p>
            <a:r>
              <a:rPr lang="ru-RU" sz="400" dirty="0"/>
              <a:t>    </a:t>
            </a:r>
            <a:r>
              <a:rPr lang="ru-RU" sz="400" dirty="0" err="1"/>
              <a:t>replication</a:t>
            </a:r>
            <a:r>
              <a:rPr lang="ru-RU" sz="400" dirty="0"/>
              <a:t>:</a:t>
            </a:r>
          </a:p>
          <a:p>
            <a:r>
              <a:rPr lang="ru-RU" sz="400" dirty="0"/>
              <a:t>      </a:t>
            </a:r>
            <a:r>
              <a:rPr lang="ru-RU" sz="400" dirty="0" err="1"/>
              <a:t>username</a:t>
            </a:r>
            <a:r>
              <a:rPr lang="ru-RU" sz="400" dirty="0"/>
              <a:t>: </a:t>
            </a:r>
            <a:r>
              <a:rPr lang="ru-RU" sz="400" dirty="0" err="1"/>
              <a:t>replicator</a:t>
            </a:r>
            <a:endParaRPr lang="ru-RU" sz="400" dirty="0"/>
          </a:p>
          <a:p>
            <a:r>
              <a:rPr lang="ru-RU" sz="400" dirty="0"/>
              <a:t>      </a:t>
            </a:r>
            <a:r>
              <a:rPr lang="ru-RU" sz="400" dirty="0" err="1"/>
              <a:t>password</a:t>
            </a:r>
            <a:r>
              <a:rPr lang="ru-RU" sz="400" dirty="0"/>
              <a:t>: </a:t>
            </a:r>
            <a:r>
              <a:rPr lang="ru-RU" sz="400" dirty="0" err="1"/>
              <a:t>rep-pass</a:t>
            </a:r>
            <a:endParaRPr lang="ru-RU" sz="400" dirty="0"/>
          </a:p>
          <a:p>
            <a:r>
              <a:rPr lang="ru-RU" sz="400" dirty="0"/>
              <a:t>    </a:t>
            </a:r>
            <a:r>
              <a:rPr lang="ru-RU" sz="400" dirty="0" err="1"/>
              <a:t>superuser</a:t>
            </a:r>
            <a:r>
              <a:rPr lang="ru-RU" sz="400" dirty="0"/>
              <a:t>:</a:t>
            </a:r>
          </a:p>
          <a:p>
            <a:r>
              <a:rPr lang="ru-RU" sz="400" dirty="0"/>
              <a:t>      </a:t>
            </a:r>
            <a:r>
              <a:rPr lang="ru-RU" sz="400" dirty="0" err="1"/>
              <a:t>username</a:t>
            </a:r>
            <a:r>
              <a:rPr lang="ru-RU" sz="400" dirty="0"/>
              <a:t>: </a:t>
            </a:r>
            <a:r>
              <a:rPr lang="ru-RU" sz="400" dirty="0" err="1"/>
              <a:t>postgres</a:t>
            </a:r>
            <a:endParaRPr lang="ru-RU" sz="400" dirty="0"/>
          </a:p>
          <a:p>
            <a:r>
              <a:rPr lang="ru-RU" sz="400" dirty="0"/>
              <a:t>      </a:t>
            </a:r>
            <a:r>
              <a:rPr lang="ru-RU" sz="400" dirty="0" err="1"/>
              <a:t>password</a:t>
            </a:r>
            <a:r>
              <a:rPr lang="ru-RU" sz="400" dirty="0"/>
              <a:t>: </a:t>
            </a:r>
            <a:r>
              <a:rPr lang="ru-RU" sz="400" dirty="0" err="1"/>
              <a:t>postgres-pass</a:t>
            </a:r>
            <a:endParaRPr lang="ru-RU" sz="400" dirty="0"/>
          </a:p>
          <a:p>
            <a:r>
              <a:rPr lang="ru-RU" sz="400" dirty="0"/>
              <a:t>  </a:t>
            </a:r>
            <a:r>
              <a:rPr lang="ru-RU" sz="400" dirty="0" err="1"/>
              <a:t>parameters</a:t>
            </a:r>
            <a:r>
              <a:rPr lang="ru-RU" sz="400" dirty="0"/>
              <a:t>:</a:t>
            </a:r>
          </a:p>
          <a:p>
            <a:r>
              <a:rPr lang="ru-RU" sz="400" dirty="0"/>
              <a:t>    </a:t>
            </a:r>
            <a:r>
              <a:rPr lang="ru-RU" sz="400" dirty="0" err="1"/>
              <a:t>shared_preload_libraries</a:t>
            </a:r>
            <a:r>
              <a:rPr lang="ru-RU" sz="400" dirty="0"/>
              <a:t>: </a:t>
            </a:r>
            <a:r>
              <a:rPr lang="ru-RU" sz="400" dirty="0" err="1"/>
              <a:t>citus</a:t>
            </a:r>
            <a:endParaRPr lang="ru-RU" sz="400" dirty="0"/>
          </a:p>
          <a:p>
            <a:endParaRPr lang="ru-RU" sz="400" dirty="0"/>
          </a:p>
          <a:p>
            <a:r>
              <a:rPr lang="ru-RU" sz="400" dirty="0" err="1"/>
              <a:t>citus</a:t>
            </a:r>
            <a:r>
              <a:rPr lang="ru-RU" sz="400" dirty="0"/>
              <a:t>:</a:t>
            </a:r>
          </a:p>
          <a:p>
            <a:r>
              <a:rPr lang="ru-RU" sz="400" dirty="0"/>
              <a:t>  </a:t>
            </a:r>
            <a:r>
              <a:rPr lang="ru-RU" sz="400" dirty="0" err="1"/>
              <a:t>group</a:t>
            </a:r>
            <a:r>
              <a:rPr lang="ru-RU" sz="400" dirty="0"/>
              <a:t>: 0</a:t>
            </a:r>
          </a:p>
          <a:p>
            <a:r>
              <a:rPr lang="ru-RU" sz="400" dirty="0"/>
              <a:t>  </a:t>
            </a:r>
            <a:r>
              <a:rPr lang="ru-RU" sz="400" dirty="0" err="1"/>
              <a:t>database</a:t>
            </a:r>
            <a:r>
              <a:rPr lang="ru-RU" sz="400" dirty="0"/>
              <a:t>: </a:t>
            </a:r>
            <a:r>
              <a:rPr lang="ru-RU" sz="400" dirty="0" err="1"/>
              <a:t>postgres</a:t>
            </a:r>
            <a:endParaRPr lang="ru-RU" sz="400" dirty="0"/>
          </a:p>
          <a:p>
            <a:endParaRPr lang="ru-RU" sz="400" dirty="0"/>
          </a:p>
          <a:p>
            <a:r>
              <a:rPr lang="ru-RU" sz="400" dirty="0" err="1"/>
              <a:t>tags</a:t>
            </a:r>
            <a:r>
              <a:rPr lang="ru-RU" sz="400" dirty="0"/>
              <a:t>:</a:t>
            </a:r>
          </a:p>
          <a:p>
            <a:r>
              <a:rPr lang="ru-RU" sz="400" dirty="0"/>
              <a:t>  </a:t>
            </a:r>
            <a:r>
              <a:rPr lang="ru-RU" sz="400" dirty="0" err="1"/>
              <a:t>nofailover</a:t>
            </a:r>
            <a:r>
              <a:rPr lang="ru-RU" sz="400" dirty="0"/>
              <a:t>: </a:t>
            </a:r>
            <a:r>
              <a:rPr lang="ru-RU" sz="400" dirty="0" err="1"/>
              <a:t>false</a:t>
            </a:r>
            <a:endParaRPr lang="ru-RU" sz="400" dirty="0"/>
          </a:p>
          <a:p>
            <a:r>
              <a:rPr lang="ru-RU" sz="400" dirty="0"/>
              <a:t>EOF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47A6C-77B6-1BCE-674C-0BD97AD39D83}"/>
              </a:ext>
            </a:extLst>
          </p:cNvPr>
          <p:cNvSpPr txBox="1"/>
          <p:nvPr/>
        </p:nvSpPr>
        <p:spPr>
          <a:xfrm>
            <a:off x="574242" y="1056363"/>
            <a:ext cx="4572000" cy="367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координаторов и для двух групп </a:t>
            </a:r>
            <a:r>
              <a:rPr lang="ru-RU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воркеров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создаются конфиги /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etc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patroni.yml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координаторов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scope: 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citus_coord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citus.group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0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</a:t>
            </a:r>
            <a:r>
              <a:rPr lang="ru-RU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воркеров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первой группы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scope: citus_worker_1, 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citus.group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1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</a:t>
            </a:r>
            <a:r>
              <a:rPr lang="ru-RU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воркеров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второй группы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scope: citus_worker_2, 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citus.group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2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endParaRPr lang="en-US" sz="13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секции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bootstrap 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указан 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initdb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необходимые параметры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PostgreSQL (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shared_preload_libraries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'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citus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'), 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 также 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post_init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скрипт, который при первой инициализации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создаёт пользователя 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replicator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задаёт пароль 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postgres</a:t>
            </a:r>
            <a:r>
              <a:rPr lang="en-US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активирует расширение </a:t>
            </a:r>
            <a:r>
              <a:rPr lang="en-US" sz="13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Citus</a:t>
            </a:r>
            <a:endParaRPr lang="en-US" sz="13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00869-7470-F9D5-A233-7448C5D980C3}"/>
              </a:ext>
            </a:extLst>
          </p:cNvPr>
          <p:cNvSpPr txBox="1"/>
          <p:nvPr/>
        </p:nvSpPr>
        <p:spPr>
          <a:xfrm>
            <a:off x="18831" y="4933745"/>
            <a:ext cx="58051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00" dirty="0">
                <a:hlinkClick r:id="rId3"/>
              </a:rPr>
              <a:t>https://github.com/Darya2403/PostgreSQL.Advanced/blob/main/Project/configs%2Fpg-citus-patroni-cluster%2Fpg-citus-patroni-cluster.md</a:t>
            </a:r>
            <a:r>
              <a:rPr lang="ru-RU" sz="7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2859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1F89CD1-4353-9D3D-E5A7-04E1BA531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F0CBB612-0CE8-23F5-D638-4F79BF0EF1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 err="1"/>
              <a:t>Systemd</a:t>
            </a:r>
            <a:r>
              <a:rPr lang="en-US" sz="2400" dirty="0"/>
              <a:t>-</a:t>
            </a:r>
            <a:r>
              <a:rPr lang="ru-RU" sz="2400" dirty="0"/>
              <a:t>сервис </a:t>
            </a:r>
            <a:r>
              <a:rPr lang="en-US" sz="2400" dirty="0"/>
              <a:t>Patroni</a:t>
            </a:r>
            <a:r>
              <a:rPr lang="ru-RU" sz="2400" dirty="0"/>
              <a:t> и запуск кластера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62A26-8B1C-8FFF-D158-CA9A169B1837}"/>
              </a:ext>
            </a:extLst>
          </p:cNvPr>
          <p:cNvSpPr txBox="1"/>
          <p:nvPr/>
        </p:nvSpPr>
        <p:spPr>
          <a:xfrm>
            <a:off x="599903" y="1894337"/>
            <a:ext cx="2659616" cy="18466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sz="600" dirty="0" err="1"/>
              <a:t>sudo</a:t>
            </a:r>
            <a:r>
              <a:rPr lang="ru-RU" sz="600" dirty="0"/>
              <a:t> </a:t>
            </a:r>
            <a:r>
              <a:rPr lang="ru-RU" sz="600" dirty="0" err="1"/>
              <a:t>tee</a:t>
            </a:r>
            <a:r>
              <a:rPr lang="ru-RU" sz="600" dirty="0"/>
              <a:t> /</a:t>
            </a:r>
            <a:r>
              <a:rPr lang="ru-RU" sz="600" dirty="0" err="1"/>
              <a:t>etc</a:t>
            </a:r>
            <a:r>
              <a:rPr lang="ru-RU" sz="600" dirty="0"/>
              <a:t>/</a:t>
            </a:r>
            <a:r>
              <a:rPr lang="ru-RU" sz="600" dirty="0" err="1"/>
              <a:t>systemd</a:t>
            </a:r>
            <a:r>
              <a:rPr lang="ru-RU" sz="600" dirty="0"/>
              <a:t>/</a:t>
            </a:r>
            <a:r>
              <a:rPr lang="ru-RU" sz="600" dirty="0" err="1"/>
              <a:t>system</a:t>
            </a:r>
            <a:r>
              <a:rPr lang="ru-RU" sz="600" dirty="0"/>
              <a:t>/</a:t>
            </a:r>
            <a:r>
              <a:rPr lang="ru-RU" sz="600" dirty="0" err="1"/>
              <a:t>patroni.service</a:t>
            </a:r>
            <a:r>
              <a:rPr lang="ru-RU" sz="600" dirty="0"/>
              <a:t> &lt;&lt;EOF</a:t>
            </a:r>
          </a:p>
          <a:p>
            <a:r>
              <a:rPr lang="ru-RU" sz="600" dirty="0"/>
              <a:t>[Unit]</a:t>
            </a:r>
          </a:p>
          <a:p>
            <a:r>
              <a:rPr lang="ru-RU" sz="600" dirty="0" err="1"/>
              <a:t>Description</a:t>
            </a:r>
            <a:r>
              <a:rPr lang="ru-RU" sz="600" dirty="0"/>
              <a:t>=</a:t>
            </a:r>
            <a:r>
              <a:rPr lang="ru-RU" sz="600" dirty="0" err="1"/>
              <a:t>Patroni</a:t>
            </a:r>
            <a:r>
              <a:rPr lang="ru-RU" sz="600" dirty="0"/>
              <a:t> HA for </a:t>
            </a:r>
            <a:r>
              <a:rPr lang="ru-RU" sz="600" dirty="0" err="1"/>
              <a:t>PostgreSQL</a:t>
            </a:r>
            <a:endParaRPr lang="ru-RU" sz="600" dirty="0"/>
          </a:p>
          <a:p>
            <a:r>
              <a:rPr lang="ru-RU" sz="600" dirty="0" err="1"/>
              <a:t>After</a:t>
            </a:r>
            <a:r>
              <a:rPr lang="ru-RU" sz="600" dirty="0"/>
              <a:t>=</a:t>
            </a:r>
            <a:r>
              <a:rPr lang="ru-RU" sz="600" dirty="0" err="1"/>
              <a:t>network.target</a:t>
            </a:r>
            <a:endParaRPr lang="ru-RU" sz="600" dirty="0"/>
          </a:p>
          <a:p>
            <a:endParaRPr lang="ru-RU" sz="600" dirty="0"/>
          </a:p>
          <a:p>
            <a:r>
              <a:rPr lang="ru-RU" sz="600" dirty="0"/>
              <a:t>[Service]</a:t>
            </a:r>
          </a:p>
          <a:p>
            <a:r>
              <a:rPr lang="ru-RU" sz="600" dirty="0"/>
              <a:t>Type=</a:t>
            </a:r>
            <a:r>
              <a:rPr lang="ru-RU" sz="600" dirty="0" err="1"/>
              <a:t>simple</a:t>
            </a:r>
            <a:endParaRPr lang="ru-RU" sz="600" dirty="0"/>
          </a:p>
          <a:p>
            <a:r>
              <a:rPr lang="ru-RU" sz="600" dirty="0"/>
              <a:t>User=</a:t>
            </a:r>
            <a:r>
              <a:rPr lang="ru-RU" sz="600" dirty="0" err="1"/>
              <a:t>postgres</a:t>
            </a:r>
            <a:endParaRPr lang="ru-RU" sz="600" dirty="0"/>
          </a:p>
          <a:p>
            <a:r>
              <a:rPr lang="ru-RU" sz="600" dirty="0"/>
              <a:t>Group=</a:t>
            </a:r>
            <a:r>
              <a:rPr lang="ru-RU" sz="600" dirty="0" err="1"/>
              <a:t>postgres</a:t>
            </a:r>
            <a:endParaRPr lang="ru-RU" sz="600" dirty="0"/>
          </a:p>
          <a:p>
            <a:r>
              <a:rPr lang="ru-RU" sz="600" dirty="0" err="1"/>
              <a:t>ExecStart</a:t>
            </a:r>
            <a:r>
              <a:rPr lang="ru-RU" sz="600" dirty="0"/>
              <a:t>=/</a:t>
            </a:r>
            <a:r>
              <a:rPr lang="ru-RU" sz="600" dirty="0" err="1"/>
              <a:t>usr</a:t>
            </a:r>
            <a:r>
              <a:rPr lang="ru-RU" sz="600" dirty="0"/>
              <a:t>/</a:t>
            </a:r>
            <a:r>
              <a:rPr lang="ru-RU" sz="600" dirty="0" err="1"/>
              <a:t>local</a:t>
            </a:r>
            <a:r>
              <a:rPr lang="ru-RU" sz="600" dirty="0"/>
              <a:t>/</a:t>
            </a:r>
            <a:r>
              <a:rPr lang="ru-RU" sz="600" dirty="0" err="1"/>
              <a:t>bin</a:t>
            </a:r>
            <a:r>
              <a:rPr lang="ru-RU" sz="600" dirty="0"/>
              <a:t>/</a:t>
            </a:r>
            <a:r>
              <a:rPr lang="ru-RU" sz="600" dirty="0" err="1"/>
              <a:t>patroni</a:t>
            </a:r>
            <a:r>
              <a:rPr lang="ru-RU" sz="600" dirty="0"/>
              <a:t> /</a:t>
            </a:r>
            <a:r>
              <a:rPr lang="ru-RU" sz="600" dirty="0" err="1"/>
              <a:t>etc</a:t>
            </a:r>
            <a:r>
              <a:rPr lang="ru-RU" sz="600" dirty="0"/>
              <a:t>/</a:t>
            </a:r>
            <a:r>
              <a:rPr lang="ru-RU" sz="600" dirty="0" err="1"/>
              <a:t>patroni.yml</a:t>
            </a:r>
            <a:endParaRPr lang="ru-RU" sz="600" dirty="0"/>
          </a:p>
          <a:p>
            <a:r>
              <a:rPr lang="ru-RU" sz="600" dirty="0" err="1"/>
              <a:t>Restart</a:t>
            </a:r>
            <a:r>
              <a:rPr lang="ru-RU" sz="600" dirty="0"/>
              <a:t>=</a:t>
            </a:r>
            <a:r>
              <a:rPr lang="ru-RU" sz="600" dirty="0" err="1"/>
              <a:t>on-failure</a:t>
            </a:r>
            <a:endParaRPr lang="ru-RU" sz="600" dirty="0"/>
          </a:p>
          <a:p>
            <a:r>
              <a:rPr lang="ru-RU" sz="600" dirty="0" err="1"/>
              <a:t>RestartSec</a:t>
            </a:r>
            <a:r>
              <a:rPr lang="ru-RU" sz="600" dirty="0"/>
              <a:t>=5</a:t>
            </a:r>
          </a:p>
          <a:p>
            <a:endParaRPr lang="ru-RU" sz="600" dirty="0"/>
          </a:p>
          <a:p>
            <a:r>
              <a:rPr lang="ru-RU" sz="600" dirty="0"/>
              <a:t>[</a:t>
            </a:r>
            <a:r>
              <a:rPr lang="ru-RU" sz="600" dirty="0" err="1"/>
              <a:t>Install</a:t>
            </a:r>
            <a:r>
              <a:rPr lang="ru-RU" sz="600" dirty="0"/>
              <a:t>]</a:t>
            </a:r>
          </a:p>
          <a:p>
            <a:r>
              <a:rPr lang="ru-RU" sz="600" dirty="0" err="1"/>
              <a:t>WantedBy</a:t>
            </a:r>
            <a:r>
              <a:rPr lang="ru-RU" sz="600" dirty="0"/>
              <a:t>=</a:t>
            </a:r>
            <a:r>
              <a:rPr lang="ru-RU" sz="600" dirty="0" err="1"/>
              <a:t>multi-user.target</a:t>
            </a:r>
            <a:endParaRPr lang="ru-RU" sz="600" dirty="0"/>
          </a:p>
          <a:p>
            <a:r>
              <a:rPr lang="ru-RU" sz="600" dirty="0"/>
              <a:t>EOF</a:t>
            </a:r>
          </a:p>
          <a:p>
            <a:endParaRPr lang="ru-RU" sz="600" dirty="0"/>
          </a:p>
          <a:p>
            <a:r>
              <a:rPr lang="ru-RU" sz="600" dirty="0" err="1"/>
              <a:t>sudo</a:t>
            </a:r>
            <a:r>
              <a:rPr lang="ru-RU" sz="600" dirty="0"/>
              <a:t> </a:t>
            </a:r>
            <a:r>
              <a:rPr lang="ru-RU" sz="600" dirty="0" err="1"/>
              <a:t>systemctl</a:t>
            </a:r>
            <a:r>
              <a:rPr lang="ru-RU" sz="600" dirty="0"/>
              <a:t> </a:t>
            </a:r>
            <a:r>
              <a:rPr lang="ru-RU" sz="600" dirty="0" err="1"/>
              <a:t>daemon-reload</a:t>
            </a:r>
            <a:endParaRPr lang="ru-RU" sz="600" dirty="0"/>
          </a:p>
          <a:p>
            <a:r>
              <a:rPr lang="ru-RU" sz="600" dirty="0" err="1"/>
              <a:t>sudo</a:t>
            </a:r>
            <a:r>
              <a:rPr lang="ru-RU" sz="600" dirty="0"/>
              <a:t> </a:t>
            </a:r>
            <a:r>
              <a:rPr lang="ru-RU" sz="600" dirty="0" err="1"/>
              <a:t>systemctl</a:t>
            </a:r>
            <a:r>
              <a:rPr lang="ru-RU" sz="600" dirty="0"/>
              <a:t> </a:t>
            </a:r>
            <a:r>
              <a:rPr lang="ru-RU" sz="600" dirty="0" err="1"/>
              <a:t>enable</a:t>
            </a:r>
            <a:r>
              <a:rPr lang="ru-RU" sz="600" dirty="0"/>
              <a:t> </a:t>
            </a:r>
            <a:r>
              <a:rPr lang="ru-RU" sz="600" dirty="0" err="1"/>
              <a:t>patroni</a:t>
            </a:r>
            <a:endParaRPr lang="ru-RU" sz="6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8CDC157-9EBD-5D69-DA1B-70CCE1A437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84725" y="944311"/>
            <a:ext cx="4292314" cy="2796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501D30-102F-CFB5-4314-A8131DA1F4FB}"/>
              </a:ext>
            </a:extLst>
          </p:cNvPr>
          <p:cNvSpPr txBox="1"/>
          <p:nvPr/>
        </p:nvSpPr>
        <p:spPr>
          <a:xfrm>
            <a:off x="221839" y="878674"/>
            <a:ext cx="40628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/>
              <a:t>Автоматический запуск </a:t>
            </a:r>
            <a:r>
              <a:rPr lang="ru-RU" sz="1200" dirty="0" err="1"/>
              <a:t>Patroni</a:t>
            </a:r>
            <a:r>
              <a:rPr lang="ru-RU" sz="1200" dirty="0"/>
              <a:t> при загрузке узла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/>
              <a:t>Перезапуск процесса в случае сбоя (</a:t>
            </a:r>
            <a:r>
              <a:rPr lang="ru-RU" sz="1200" dirty="0" err="1"/>
              <a:t>failover</a:t>
            </a:r>
            <a:r>
              <a:rPr lang="ru-RU" sz="12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/>
              <a:t>Централизованное управление и мониторинг через </a:t>
            </a:r>
            <a:r>
              <a:rPr lang="ru-RU" sz="1200" dirty="0" err="1"/>
              <a:t>systemd</a:t>
            </a:r>
            <a:endParaRPr lang="ru-RU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/>
              <a:t>Единая конфигурация на всех узлах кластера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94882852-7CE8-BE45-77EF-188F067D9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84724" y="4010299"/>
            <a:ext cx="3243502" cy="107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EAC8FA4F-0442-5C40-D09F-4A9757681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9902" y="4010299"/>
            <a:ext cx="3299507" cy="1074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E383C6-A416-0931-6B05-F45F2B40C27F}"/>
              </a:ext>
            </a:extLst>
          </p:cNvPr>
          <p:cNvSpPr txBox="1"/>
          <p:nvPr/>
        </p:nvSpPr>
        <p:spPr>
          <a:xfrm>
            <a:off x="527275" y="3733300"/>
            <a:ext cx="32435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Список </a:t>
            </a:r>
            <a:r>
              <a:rPr lang="ru-RU" sz="1200" dirty="0" err="1"/>
              <a:t>воркеров</a:t>
            </a:r>
            <a:r>
              <a:rPr lang="ru-RU" sz="1200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F793B2-653F-F6DB-B6F0-1F018AF2E9B0}"/>
              </a:ext>
            </a:extLst>
          </p:cNvPr>
          <p:cNvSpPr txBox="1"/>
          <p:nvPr/>
        </p:nvSpPr>
        <p:spPr>
          <a:xfrm>
            <a:off x="4218842" y="3733299"/>
            <a:ext cx="32435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pg_dist_node</a:t>
            </a:r>
            <a:r>
              <a:rPr lang="ru-RU" sz="12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12292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9AE1206F-54EE-F5E9-5B9B-A5B46F1F2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D0905BD0-9F20-8279-5F6F-8FD70DAD11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151802"/>
            <a:ext cx="4969529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000" dirty="0"/>
              <a:t>Тестирование распределённой работы </a:t>
            </a:r>
            <a:r>
              <a:rPr lang="en-US" sz="2000" dirty="0" err="1"/>
              <a:t>Citus</a:t>
            </a:r>
            <a:r>
              <a:rPr lang="en-US" sz="2000" dirty="0"/>
              <a:t> </a:t>
            </a:r>
            <a:r>
              <a:rPr lang="ru-RU" sz="2000" dirty="0"/>
              <a:t>и отказоустойчивости </a:t>
            </a:r>
            <a:r>
              <a:rPr lang="en-US" sz="2000" dirty="0"/>
              <a:t>Patroni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8DDB9-BA93-982A-02A7-85CE6BFEF2FA}"/>
              </a:ext>
            </a:extLst>
          </p:cNvPr>
          <p:cNvSpPr txBox="1"/>
          <p:nvPr/>
        </p:nvSpPr>
        <p:spPr>
          <a:xfrm>
            <a:off x="500550" y="102291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Останавливаем </a:t>
            </a:r>
            <a:r>
              <a:rPr lang="ru-RU" sz="1200" dirty="0" err="1"/>
              <a:t>Patroni</a:t>
            </a:r>
            <a:r>
              <a:rPr lang="ru-RU" sz="1200" dirty="0"/>
              <a:t> на лидере координаторов и на лидерах </a:t>
            </a:r>
            <a:r>
              <a:rPr lang="ru-RU" sz="1200" dirty="0" err="1"/>
              <a:t>воркеров</a:t>
            </a:r>
            <a:r>
              <a:rPr lang="ru-RU" sz="1200" dirty="0"/>
              <a:t>. </a:t>
            </a:r>
            <a:r>
              <a:rPr lang="ru-RU" sz="1200" dirty="0" err="1"/>
              <a:t>Patroni</a:t>
            </a:r>
            <a:r>
              <a:rPr lang="ru-RU" sz="1200" dirty="0"/>
              <a:t> на репликах автоматически берет на себя роль лидера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219E1C2-2210-2655-D8F5-B7943FB41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5216" y="1669248"/>
            <a:ext cx="4884863" cy="3223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C9B121-0FD2-B868-60AA-6E8DDCB9E01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91321" y="663486"/>
            <a:ext cx="3262579" cy="945850"/>
          </a:xfrm>
          <a:prstGeom prst="rect">
            <a:avLst/>
          </a:prstGeom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6C0CE73A-7AC6-9CA1-A194-0358B4A24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91321" y="1952175"/>
            <a:ext cx="3385738" cy="103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646272-1364-AD77-923D-45D98A9BDB62}"/>
              </a:ext>
            </a:extLst>
          </p:cNvPr>
          <p:cNvSpPr txBox="1"/>
          <p:nvPr/>
        </p:nvSpPr>
        <p:spPr>
          <a:xfrm>
            <a:off x="5524401" y="30602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Воркеры</a:t>
            </a:r>
            <a:r>
              <a:rPr lang="ru-RU" sz="1200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0EACDB-44B5-7AD5-2B97-19A79FB34B59}"/>
              </a:ext>
            </a:extLst>
          </p:cNvPr>
          <p:cNvSpPr txBox="1"/>
          <p:nvPr/>
        </p:nvSpPr>
        <p:spPr>
          <a:xfrm>
            <a:off x="5549937" y="1623971"/>
            <a:ext cx="3008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Распределение </a:t>
            </a:r>
            <a:r>
              <a:rPr lang="ru-RU" sz="1200" dirty="0" err="1"/>
              <a:t>шардов</a:t>
            </a:r>
            <a:r>
              <a:rPr lang="ru-RU" sz="1200" dirty="0"/>
              <a:t> по нодам:</a:t>
            </a: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3215EBC7-E6EE-23FA-C792-6686F4556A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91321" y="3344483"/>
            <a:ext cx="3385738" cy="154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68FB31-E876-3094-C692-E096EEC06ED5}"/>
              </a:ext>
            </a:extLst>
          </p:cNvPr>
          <p:cNvSpPr txBox="1"/>
          <p:nvPr/>
        </p:nvSpPr>
        <p:spPr>
          <a:xfrm>
            <a:off x="5524401" y="2999229"/>
            <a:ext cx="30343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План запросов по разным </a:t>
            </a:r>
            <a:r>
              <a:rPr lang="ru-RU" sz="1200" dirty="0" err="1"/>
              <a:t>шардам</a:t>
            </a:r>
            <a:r>
              <a:rPr lang="ru-RU" sz="1200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8C1181-B4EB-2435-A442-026C74CCD468}"/>
              </a:ext>
            </a:extLst>
          </p:cNvPr>
          <p:cNvSpPr txBox="1"/>
          <p:nvPr/>
        </p:nvSpPr>
        <p:spPr>
          <a:xfrm>
            <a:off x="493235" y="4943445"/>
            <a:ext cx="504748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00" dirty="0">
                <a:hlinkClick r:id="rId7"/>
              </a:rPr>
              <a:t>https://github.com/Darya2403/PostgreSQL.Advanced/blob/main/Project/configs/pg-citus-patroni-cluster/query.md</a:t>
            </a:r>
            <a:r>
              <a:rPr lang="ru-RU" sz="7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3571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5C13A421-83C1-10BF-CE42-7A7B4B20E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B222574F-80ED-1E92-3E8E-08A728C781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000" dirty="0"/>
              <a:t>Обеспечение высокой доступности точки входа (</a:t>
            </a:r>
            <a:r>
              <a:rPr lang="ru-RU" sz="2000" dirty="0" err="1"/>
              <a:t>HAProxy</a:t>
            </a:r>
            <a:r>
              <a:rPr lang="ru-RU" sz="2000" dirty="0"/>
              <a:t> + </a:t>
            </a:r>
            <a:r>
              <a:rPr lang="ru-RU" sz="2000" dirty="0" err="1"/>
              <a:t>Keepalived</a:t>
            </a:r>
            <a:r>
              <a:rPr lang="ru-RU" sz="2000" dirty="0"/>
              <a:t> + NLB)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C7573-F724-FCA4-AE82-B02EEE2FD912}"/>
              </a:ext>
            </a:extLst>
          </p:cNvPr>
          <p:cNvSpPr txBox="1"/>
          <p:nvPr/>
        </p:nvSpPr>
        <p:spPr>
          <a:xfrm>
            <a:off x="188850" y="1113367"/>
            <a:ext cx="4572000" cy="1555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Настроены два экземпляра </a:t>
            </a:r>
            <a:r>
              <a:rPr lang="ru-RU" sz="1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HAProxy</a:t>
            </a:r>
            <a:r>
              <a:rPr lang="ru-RU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 одинаковой конфигурацией, направляющей трафик на активный координатор через проверку порта 8008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 помощью </a:t>
            </a:r>
            <a:r>
              <a:rPr lang="ru-RU" sz="1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Keepalived</a:t>
            </a:r>
            <a:r>
              <a:rPr lang="ru-RU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создан внутренний плавающий VIP 10.128.0.200, который автоматически переключается между </a:t>
            </a:r>
            <a:r>
              <a:rPr lang="ru-RU" sz="1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HAProxy</a:t>
            </a:r>
            <a:endParaRPr lang="ru-RU" sz="1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доступа из интернета развёрнут Network </a:t>
            </a:r>
            <a:r>
              <a:rPr lang="ru-RU" sz="1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Load</a:t>
            </a:r>
            <a:r>
              <a:rPr lang="ru-RU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Balancer</a:t>
            </a:r>
            <a:r>
              <a:rPr lang="ru-RU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 публичным IP 37.230.168.30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6B1F7-B1B9-DB42-5107-362E0B3E708C}"/>
              </a:ext>
            </a:extLst>
          </p:cNvPr>
          <p:cNvSpPr txBox="1"/>
          <p:nvPr/>
        </p:nvSpPr>
        <p:spPr>
          <a:xfrm>
            <a:off x="412767" y="4943444"/>
            <a:ext cx="67482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00" dirty="0">
                <a:hlinkClick r:id="rId3"/>
              </a:rPr>
              <a:t>https://github.com/Darya2403/PostgreSQL.Advanced/blob/main/Project/configs%2Fhaproxy%2Fhaproxy.md</a:t>
            </a:r>
            <a:r>
              <a:rPr lang="ru-RU" sz="700" dirty="0"/>
              <a:t> 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797614C-7C0F-D087-6672-A45AF2D14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0550" y="4162912"/>
            <a:ext cx="5983834" cy="733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186FB8-AE7F-315B-DEF4-36B0D56068B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0550" y="2668921"/>
            <a:ext cx="3969037" cy="1446894"/>
          </a:xfrm>
          <a:prstGeom prst="rect">
            <a:avLst/>
          </a:prstGeom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FA7C3A5D-F97C-4007-8664-C8ED0FA1DF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90706" y="878674"/>
            <a:ext cx="3600587" cy="316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342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9DA92F1D-5DE5-FFC8-9623-0D45CB4A34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7099070"/>
              </p:ext>
            </p:extLst>
          </p:nvPr>
        </p:nvGraphicFramePr>
        <p:xfrm>
          <a:off x="500550" y="1073627"/>
          <a:ext cx="3054637" cy="3648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39DAD2-8996-7DED-0992-BA4FE42B876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2922" y="1335480"/>
            <a:ext cx="4788064" cy="31245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930A56-4602-3810-BA63-F2D637318FCF}"/>
              </a:ext>
            </a:extLst>
          </p:cNvPr>
          <p:cNvSpPr txBox="1"/>
          <p:nvPr/>
        </p:nvSpPr>
        <p:spPr>
          <a:xfrm>
            <a:off x="400992" y="4929729"/>
            <a:ext cx="4572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00" dirty="0">
                <a:hlinkClick r:id="rId9"/>
              </a:rPr>
              <a:t>https://github.com/Darya2403/PostgreSQL.Advanced/blob/main/Project/Project.md</a:t>
            </a:r>
            <a:r>
              <a:rPr lang="en-US" sz="700" dirty="0"/>
              <a:t> </a:t>
            </a:r>
            <a:endParaRPr lang="ru-RU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1404</Words>
  <Application>Microsoft Office PowerPoint</Application>
  <PresentationFormat>Экран (16:9)</PresentationFormat>
  <Paragraphs>186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Courier New</vt:lpstr>
      <vt:lpstr>Mona Sans VF</vt:lpstr>
      <vt:lpstr>Roboto</vt:lpstr>
      <vt:lpstr>Roboto Medium</vt:lpstr>
      <vt:lpstr>Светлая тема</vt:lpstr>
      <vt:lpstr>Презентация PowerPoint</vt:lpstr>
      <vt:lpstr>Защита проекта Тема: Построение отказоустойчивого распределённого кластера PostgreSQL на базе Citus и Patroni </vt:lpstr>
      <vt:lpstr>Презентация PowerPoint</vt:lpstr>
      <vt:lpstr>Какие технологии использовались </vt:lpstr>
      <vt:lpstr>Архитектура решения</vt:lpstr>
      <vt:lpstr>Инфраструктура</vt:lpstr>
      <vt:lpstr>Настройка NAT-шлюза</vt:lpstr>
      <vt:lpstr>Настройка кластера etcd</vt:lpstr>
      <vt:lpstr>Установка PostgreSQL 16, Citus, Patroni на 6 узлах БД</vt:lpstr>
      <vt:lpstr>Конфигурация Patroni (на 6 узлах)</vt:lpstr>
      <vt:lpstr>Systemd-сервис Patroni и запуск кластера</vt:lpstr>
      <vt:lpstr>Тестирование распределённой работы Citus и отказоустойчивости Patroni</vt:lpstr>
      <vt:lpstr>Обеспечение высокой доступности точки входа (HAProxy + Keepalived + NLB)</vt:lpstr>
      <vt:lpstr>Выводы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User</cp:lastModifiedBy>
  <cp:revision>11</cp:revision>
  <dcterms:modified xsi:type="dcterms:W3CDTF">2026-05-18T20:57:12Z</dcterms:modified>
</cp:coreProperties>
</file>